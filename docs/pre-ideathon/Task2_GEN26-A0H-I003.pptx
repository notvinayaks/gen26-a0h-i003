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89ae1fa7e44cdb" /><Relationship Type="http://schemas.openxmlformats.org/officeDocument/2006/relationships/extended-properties" Target="/docProps/app.xml" Id="R0b9177e6927743fd" /><Relationship Type="http://schemas.openxmlformats.org/officeDocument/2006/relationships/officeDocument" Target="/ppt/presentation.xml" Id="R9534751cd09c4a4c" /></Relationships>
</file>

<file path=ppt/presentation.xml><?xml version="1.0" encoding="utf-8"?>
<p:presentation xmlns:p="http://schemas.openxmlformats.org/presentationml/2006/main">
  <p:sldMasterIdLst>
    <p:sldMasterId xmlns:r="http://schemas.openxmlformats.org/officeDocument/2006/relationships" id="2147483648" r:id="R071799b733d84b64"/>
  </p:sldMasterIdLst>
  <p:notesMasterIdLst>
    <p:notesMasterId xmlns:r="http://schemas.openxmlformats.org/officeDocument/2006/relationships" r:id="R36d1e506eba64603"/>
  </p:notesMasterIdLst>
  <p:sldIdLst>
    <p:sldId xmlns:r="http://schemas.openxmlformats.org/officeDocument/2006/relationships" id="256" r:id="R88eb86f308014e13"/>
    <p:sldId xmlns:r="http://schemas.openxmlformats.org/officeDocument/2006/relationships" id="257" r:id="R5b702230bf854abe"/>
    <p:sldId xmlns:r="http://schemas.openxmlformats.org/officeDocument/2006/relationships" id="258" r:id="Rc7f018ef07ea4271"/>
    <p:sldId xmlns:r="http://schemas.openxmlformats.org/officeDocument/2006/relationships" id="259" r:id="R710e138ce3cb420c"/>
    <p:sldId xmlns:r="http://schemas.openxmlformats.org/officeDocument/2006/relationships" id="260" r:id="R23395c46b0c140b4"/>
    <p:sldId xmlns:r="http://schemas.openxmlformats.org/officeDocument/2006/relationships" id="261" r:id="Rd66e683933de406e"/>
    <p:sldId xmlns:r="http://schemas.openxmlformats.org/officeDocument/2006/relationships" id="262" r:id="R72674796965f4f41"/>
    <p:sldId xmlns:r="http://schemas.openxmlformats.org/officeDocument/2006/relationships" id="263" r:id="R41fa15a2f41148c5"/>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d5c901742434554" /><Relationship Type="http://schemas.openxmlformats.org/officeDocument/2006/relationships/slideMaster" Target="/ppt/slideMasters/slideMaster1.xml" Id="R071799b733d84b64" /><Relationship Type="http://schemas.openxmlformats.org/officeDocument/2006/relationships/notesMaster" Target="/ppt/notesMasters/notesMaster1.xml" Id="R36d1e506eba64603" /><Relationship Type="http://schemas.openxmlformats.org/officeDocument/2006/relationships/presProps" Target="/ppt/presProps.xml" Id="R951e0f89502241c7" /><Relationship Type="http://schemas.openxmlformats.org/officeDocument/2006/relationships/viewProps" Target="/ppt/viewProps.xml" Id="R580aacc3978c4256" /><Relationship Type="http://schemas.openxmlformats.org/officeDocument/2006/relationships/tableStyles" Target="/ppt/tableStyles.xml" Id="R58fcffd391254670" /><Relationship Type="http://schemas.openxmlformats.org/officeDocument/2006/relationships/slide" Target="/ppt/slides/slide1.xml" Id="R88eb86f308014e13" /><Relationship Type="http://schemas.openxmlformats.org/officeDocument/2006/relationships/slide" Target="/ppt/slides/slide2.xml" Id="R5b702230bf854abe" /><Relationship Type="http://schemas.openxmlformats.org/officeDocument/2006/relationships/slide" Target="/ppt/slides/slide3.xml" Id="Rc7f018ef07ea4271" /><Relationship Type="http://schemas.openxmlformats.org/officeDocument/2006/relationships/slide" Target="/ppt/slides/slide4.xml" Id="R710e138ce3cb420c" /><Relationship Type="http://schemas.openxmlformats.org/officeDocument/2006/relationships/slide" Target="/ppt/slides/slide5.xml" Id="R23395c46b0c140b4" /><Relationship Type="http://schemas.openxmlformats.org/officeDocument/2006/relationships/slide" Target="/ppt/slides/slide6.xml" Id="Rd66e683933de406e" /><Relationship Type="http://schemas.openxmlformats.org/officeDocument/2006/relationships/slide" Target="/ppt/slides/slide7.xml" Id="R72674796965f4f41" /><Relationship Type="http://schemas.openxmlformats.org/officeDocument/2006/relationships/slide" Target="/ppt/slides/slide8.xml" Id="R41fa15a2f41148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afdb7761784c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enesis Ideathon">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e0ad6d26494d9f" /><Relationship Type="http://schemas.openxmlformats.org/officeDocument/2006/relationships/notesMaster" Target="/ppt/notesMasters/notesMaster1.xml" Id="R60b10df684914f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97b1340c954a58" /><Relationship Type="http://schemas.openxmlformats.org/officeDocument/2006/relationships/notesMaster" Target="/ppt/notesMasters/notesMaster1.xml" Id="Rd296ed79b97f41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bb7275cbfb4658" /><Relationship Type="http://schemas.openxmlformats.org/officeDocument/2006/relationships/notesMaster" Target="/ppt/notesMasters/notesMaster1.xml" Id="Rec46328e2a6a48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c19d634e3f4f31" /><Relationship Type="http://schemas.openxmlformats.org/officeDocument/2006/relationships/notesMaster" Target="/ppt/notesMasters/notesMaster1.xml" Id="R1897de05509643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c2362c19ad4448" /><Relationship Type="http://schemas.openxmlformats.org/officeDocument/2006/relationships/notesMaster" Target="/ppt/notesMasters/notesMaster1.xml" Id="R532728129ce641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1c402d583b4514" /><Relationship Type="http://schemas.openxmlformats.org/officeDocument/2006/relationships/notesMaster" Target="/ppt/notesMasters/notesMaster1.xml" Id="R8adef4933fe94b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8eec3c1d484f33" /><Relationship Type="http://schemas.openxmlformats.org/officeDocument/2006/relationships/notesMaster" Target="/ppt/notesMasters/notesMaster1.xml" Id="Rdbfc3f5ad52746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7f30108c05436b" /><Relationship Type="http://schemas.openxmlformats.org/officeDocument/2006/relationships/notesMaster" Target="/ppt/notesMasters/notesMaster1.xml" Id="Rcf0f840be13d49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 How might we help patients and caregivers complete clinician-recommended, non-emergency hospital visits on time, with fewer avoidable journeys and unexpected expenses?</a:t>
            </a:r>
            <a:endParaRPr/>
          </a:p>
          <a:p xmlns:a="http://schemas.openxmlformats.org/drawingml/2006/main">
            <a:r>
              <a:t/>
            </a:r>
            <a:endParaRPr/>
          </a:p>
          <a:p xmlns:a="http://schemas.openxmlformats.org/drawingml/2006/main">
            <a:r>
              <a:t>The original domain challenge, Accessing the Right Healthcare Without Financial Hardship, remains the wider context. This ideation problem focuses on completing planned, clinician-recommended, non-emergency hospital visits on time. CarePath is one proposed way to investigate that problem, not a guarantee that financial hardship will be prevented. The outcome remains open to alternative interventions.</a:t>
            </a:r>
            <a:endParaRPr/>
          </a:p>
          <a:p xmlns:a="http://schemas.openxmlformats.org/drawingml/2006/main">
            <a:r>
              <a:t/>
            </a:r>
            <a:endParaRPr/>
          </a:p>
          <a:p xmlns:a="http://schemas.openxmlformats.org/drawingml/2006/main">
            <a:r>
              <a:t>Start with one willing clinic and one planned referral type. The clinic must confirm a repeatable preparation problem that staff can realistically help resolve. Check service availability and required documents with the provider before travel. Estimate expected patient cash expenses for care, travel and a possible stay. Show household-reported lost earnings separately, rather than presenting them as a hospital charge. Mark unknowns and assumptions. A range is not a guaranteed full quote.</a:t>
            </a:r>
            <a:endParaRPr/>
          </a:p>
          <a:p xmlns:a="http://schemas.openxmlformats.org/drawingml/2006/main">
            <a:r>
              <a:t/>
            </a:r>
            <a:endParaRPr/>
          </a:p>
          <a:p xmlns:a="http://schemas.openxmlformats.org/drawingml/2006/main">
            <a:r>
              <a:t>The global financial hardship figure provides context for the wider burden. It does not measure local unsuccessful hospital journeys, demand for CarePath or the effect of the proposed intervention. Local interviews and a baseline are still needed. Software cannot create unavailable services, transport or funding.</a:t>
            </a:r>
            <a:endParaRPr/>
          </a:p>
          <a:p xmlns:a="http://schemas.openxmlformats.org/drawingml/2006/main">
            <a:r>
              <a:t/>
            </a:r>
            <a:endParaRPr/>
          </a:p>
          <a:p xmlns:a="http://schemas.openxmlformats.org/drawingml/2006/main">
            <a:r>
              <a:t>Source: World Health Organization and World Bank, Tracking universal health coverage: 2025 global monitoring report. https://www.who.int/teams/health-financing-and-economics/global-monitoring-report/2025 (accessed 9 October 2026). The report states that 2.1 billion people experienced financial hardship due to out-of-pocket health spending in 2022.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target groups and anticipated benefits, not findings from user interviews. The refined problem concerns planned, clinician-recommended, non-emergency hospital visits. A clinician specifies the required service and timeframe. Patients and caregivers retain their choices. Emergency care is outside the tool’s planning scope and must not wait for verification. Local research must establish which groups and access barriers matter most.</a:t>
            </a:r>
            <a:endParaRPr/>
          </a:p>
          <a:p xmlns:a="http://schemas.openxmlformats.org/drawingml/2006/main">
            <a:r>
              <a:t>Background: WHO, Universal health coverage fact sheet, updated 2025: https://www.who.int/news-room/fact-sheets/detail/universal-health-coverage-%28uhc%29</a:t>
            </a:r>
            <a:endParaRPr/>
          </a:p>
          <a:p xmlns:a="http://schemas.openxmlformats.org/drawingml/2006/main">
            <a:r>
              <a:t>Existing medical social-work role: AIIMS, Department of Medical Social Service: https://www.aiims.edu/index.php/en/2023-07-19-08-55-03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is an illustrative scenario and a research hypothesis. It is not an account of an interviewed patient or a measured local workflow. Financial hardship has a defined statistical meaning in the WHO–World Bank monitoring framework; do not equate the 2.1 billion total with people who could be helped by this software. The 2025 report reports financial hardship for 2022.</a:t>
            </a:r>
            <a:endParaRPr/>
          </a:p>
          <a:p xmlns:a="http://schemas.openxmlformats.org/drawingml/2006/main">
            <a:r>
              <a:t>Source: WHO and World Bank, Tracking universal health coverage: 2025 global monitoring report: https://www.who.int/teams/health-financing-and-economics/global-monitoring-report/2025</a:t>
            </a:r>
            <a:endParaRPr/>
          </a:p>
          <a:p xmlns:a="http://schemas.openxmlformats.org/drawingml/2006/main">
            <a:r>
              <a:t>Fact sheet: https://www.who.int/news-room/fact-sheets/detail/universal-health-coverage-%28uhc%29</a:t>
            </a:r>
            <a:endParaRPr/>
          </a:p>
          <a:p xmlns:a="http://schemas.openxmlformats.org/drawingml/2006/main">
            <a:r>
              <a:t>Local research should record the required service, clinician-specified timeframe, whether it was received, and the reason for any unsuccessful journey. Distinguish unavailable services, missing documents and administrative/payment requirements from clinically necessary repeat visits. Do not label all repeat journeys avoidable.</a:t>
            </a:r>
            <a:endParaRPr/>
          </a:p>
          <a:p xmlns:a="http://schemas.openxmlformats.org/drawingml/2006/main">
            <a:r>
              <a:t>Research on Indian eye-care referral networks reports non-attendance and barriers that vary by setting. These studies do not estimate a national rate of preventable unsuccessful hospital journeys. Their older local datasets support asking about affordability and practical barriers, not predicting CarePath impact. Sources: PLOS ONE (2024), LVPEI referral study, https://journals.plos.org/plosone/article?id=10.1371/journal.pone.0303401 ; BMJ Open (2018), referral non-attendance study, https://bmjopen.bmj.com/content/bmjopen/8/7/e020687.full.pdf . The PLOS study used records from 2013–2016 and interviews from 2018–2019. Neither study establishes local demand for this proposed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mechanisms to investigate, rather than measured local rates or results. Travel and lost wages should be shown separately from provider fees because they represent household burden. Benefit eligibility is not the same as approval or a guaranteed payment.</a:t>
            </a:r>
            <a:endParaRPr/>
          </a:p>
          <a:p xmlns:a="http://schemas.openxmlformats.org/drawingml/2006/main">
            <a:r>
              <a:t>WHO global monitoring background: https://www.who.int/teams/health-financing-and-economics/global-monitoring-report/2025</a:t>
            </a:r>
            <a:endParaRPr/>
          </a:p>
          <a:p xmlns:a="http://schemas.openxmlformats.org/drawingml/2006/main">
            <a:r>
              <a:t>WHO recommendations on digital interventions for health system strengthening cautions that digital interventions do not substitute for functioning health systems: https://www.who.int/publications/i/item/9789241550505</a:t>
            </a:r>
            <a:endParaRPr/>
          </a:p>
          <a:p xmlns:a="http://schemas.openxmlformats.org/drawingml/2006/main">
            <a:r>
              <a:t>Before testing, ask patients and hospital staff about failed journeys, missing prerequisites, costs and existing handoff processes.</a:t>
            </a:r>
            <a:endParaRPr/>
          </a:p>
          <a:p xmlns:a="http://schemas.openxmlformats.org/drawingml/2006/main">
            <a:r>
              <a:t>Expected cash spending and lost income are different quantities. Display patient-payable care, travel and stay estimates by component, with known coverage status. Show lost earnings separately using household assumptions. Pending aid does not reduce the cash estimate. A shortfall calls for navigator support and must not become an approval gate or a reason to suppress necessary care.</a:t>
            </a:r>
            <a:endParaRPr/>
          </a:p>
          <a:p xmlns:a="http://schemas.openxmlformats.org/drawingml/2006/main">
            <a:r>
              <a:t>Research on illness-related lost wages provides broader household-cost context, not an estimate of earnings saved by preventing an unsuccessful journey: Social Science &amp; Medicine, January 2023, https://www.sciencedirect.com/science/article/pii/S0277953622008899 . This study uses older VDSA and IHDS survey data. Any lost-earnings estimate for a planned visit must come from the household and state its assumptions.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compares the documented main roles of existing approaches. It does not assert that each service lacks every proposed feature. Patient navigation already exists. The concept's proposed focus is assisted checking of service availability, required documents and household cost estimates before a planned hospital visit. This is an unvalidated implementation focus, not an invention or patent claim.</a:t>
            </a:r>
            <a:endParaRPr/>
          </a:p>
          <a:p xmlns:a="http://schemas.openxmlformats.org/drawingml/2006/main">
            <a:r>
              <a:t>PM-JAY official NHA benefit description: https://nha.gov.in/img/resources/wall-painting-RFE-Updated-2.pdf . Benefits are for eligible covered secondary and tertiary hospitalization; do not imply every outpatient service or travel expense is free.</a:t>
            </a:r>
            <a:endParaRPr/>
          </a:p>
          <a:p xmlns:a="http://schemas.openxmlformats.org/drawingml/2006/main">
            <a:r>
              <a:t>eSanjeevani official Ministry of Health/PIB description: https://www.pib.gov.in/Pressreleaseshare.aspx?PRID=1899855&amp;lang=2&amp;reg=48</a:t>
            </a:r>
            <a:endParaRPr/>
          </a:p>
          <a:p xmlns:a="http://schemas.openxmlformats.org/drawingml/2006/main">
            <a:r>
              <a:t>Practo's described services: https://www.practo.com/company/about</a:t>
            </a:r>
            <a:endParaRPr/>
          </a:p>
          <a:p xmlns:a="http://schemas.openxmlformats.org/drawingml/2006/main">
            <a:r>
              <a:t>Haqdarshak Yojana Card, welfare discovery and application support: https://yojanacard.haqdarshak.com/</a:t>
            </a:r>
            <a:endParaRPr/>
          </a:p>
          <a:p xmlns:a="http://schemas.openxmlformats.org/drawingml/2006/main">
            <a:r>
              <a:t>AIIMS medical social service: https://www.aiims.edu/index.php/en/2023-07-19-08-55-03</a:t>
            </a:r>
            <a:endParaRPr/>
          </a:p>
          <a:p xmlns:a="http://schemas.openxmlformats.org/drawingml/2006/main">
            <a:r>
              <a:t>Close alternative: Unite Us provides closed-loop referrals, screening and outcomes tracking: https://uniteus.com/products/closed-loop-referral-system/</a:t>
            </a:r>
            <a:endParaRPr/>
          </a:p>
          <a:p xmlns:a="http://schemas.openxmlformats.org/drawingml/2006/main">
            <a:r>
              <a:t>Findhelp is another established referral and support platform: https://company.findhelp.com/products/platform/ . Our focus is an unvalidated design proposal for a specific setting, not proof of a missing capability across these products.</a:t>
            </a:r>
            <a:endParaRPr/>
          </a:p>
          <a:p xmlns:a="http://schemas.openxmlformats.org/drawingml/2006/main">
            <a:r>
              <a:t>India-specific navigation precedent: Bihar JEEViKA Swasthya Mitra programme, qualitative study (2025), https://pmc.ncbi.nlm.nih.gov/articles/PMC11771127/ . Its 21-participant qualitative sample supports learning from an existing navigation approach, not claiming causal impact for CarePath. ORS supports appointments at participating hospitals: https://ors.gov.in/ORS_onboarding_ver_1.0.pdf . ABDM background: https://abdm.gov.in/strapicms/uploads/ABHA_POCKET_SIZE_final_62e3dbc0fc.pdf . A facility registry entry is not evidence of a live service slot. The pilot would test the remaining local preparation need alongside existing services rather than claim these services lack the proposed features.</a:t>
            </a:r>
            <a:endParaRPr/>
          </a:p>
          <a:p xmlns:a="http://schemas.openxmlformats.org/drawingml/2006/main">
            <a:r>
              <a:t/>
            </a:r>
            <a:endParaRPr/>
          </a:p>
          <a:p xmlns:a="http://schemas.openxmlformats.org/drawingml/2006/main">
            <a:r>
              <a:t>Scope of this student proposal: one clinic-owned readiness checklist, a queue of patient-reported practical barriers, assigned staff follow-up and explicit service completion outcomes. Compare this workflow with the clinic’s existing paper or spreadsheet process before deciding an app is needed. These functions do not establish novelty over closed-loop referral systems.</a:t>
            </a:r>
            <a:endParaRPr/>
          </a:p>
          <a:p xmlns:a="http://schemas.openxmlformats.org/drawingml/2006/main">
            <a:r>
              <a:t/>
            </a:r>
            <a:endParaRPr/>
          </a:p>
          <a:p xmlns:a="http://schemas.openxmlformats.org/drawingml/2006/main">
            <a:r>
              <a:t>Relevant caution: Favaretti et al., BMC Public Health (2024), randomized 388 adults with uncontrolled blood pressure at two public sub-district hospitals in Punjab. Enhanced WhatsApp reminders with debunking messages did not show evidence of improved follow-up attendance (21.8% intervention versus 19.6% usual care, p=0.603). This is a specific hypertension setting and intervention. It does not show that all reminders fail, nor prove that CarePath will work. It supports testing the actual barriers and staff response instead of assuming messages alone will improve completion. https://pubmed.ncbi.nlm.nih.gov/39245777/</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resources, not secured partnerships. The team consists of four first-year CSE/CYS students. Their present skills, weekly hours, budget and access to a clinic have not been established. A narrow prototype is a reasonable project to explore over a few months, but the schedule is a planning assumption rather than a promise of deployment. A real patient pilot requires a willing clinic and appropriate institutional permission and review.</a:t>
            </a:r>
            <a:endParaRPr/>
          </a:p>
          <a:p xmlns:a="http://schemas.openxmlformats.org/drawingml/2006/main">
            <a:r>
              <a:t/>
            </a:r>
            <a:endParaRPr/>
          </a:p>
          <a:p xmlns:a="http://schemas.openxmlformats.org/drawingml/2006/main">
            <a:r>
              <a:t>Proposed division of work, subject to team agreement: (1) patient checklist and print layout, (2) database and staff queue, (3) testing and access-control checks, and (4) workflow interviews, language review and coordination. These are work areas, not claims that particular team members already have those skills. Review code and integration together. A faculty mentor can help adjust scope to actual ability and time.</a:t>
            </a:r>
            <a:endParaRPr/>
          </a:p>
          <a:p xmlns:a="http://schemas.openxmlformats.org/drawingml/2006/main">
            <a:r>
              <a:t/>
            </a:r>
            <a:endParaRPr/>
          </a:p>
          <a:p xmlns:a="http://schemas.openxmlformats.org/drawingml/2006/main">
            <a:r>
              <a:t>Technical first version: a lightweight responsive website, one clinic-approved visit template, a small relational database, an authenticated staff page and a print view. An English/local-language prototype can start with Tamil where appropriate, subject to the clinic’s users and human review of wording. Clinic staff enter information manually. Hospital APIs, ABHA integration, automated WhatsApp/SMS campaigns, multi-hospital comparison, AI diagnosis and automatic benefit eligibility decisions are outside the initial scope. Use fictional cases until approval for real data. No external API or paid messaging service is necessary for the first demonstration.</a:t>
            </a:r>
            <a:endParaRPr/>
          </a:p>
          <a:p xmlns:a="http://schemas.openxmlformats.org/drawingml/2006/main">
            <a:r>
              <a:t/>
            </a:r>
            <a:endParaRPr/>
          </a:p>
          <a:p xmlns:a="http://schemas.openxmlformats.org/drawingml/2006/main">
            <a:r>
              <a:t>Four functions: (1) display the clinic-approved location, date or time window, documents and preparation instructions, (2) let families mark checklist items and report practical barriers, (3) give each unresolved issue a staff owner, due date and resolution status, and (4) record the final service outcome. Attendance and receipt of the planned service are separate fields. The software cannot alter clinical advice, set urgency or grant permission to receive care.</a:t>
            </a:r>
            <a:endParaRPr/>
          </a:p>
          <a:p xmlns:a="http://schemas.openxmlformats.org/drawingml/2006/main">
            <a:r>
              <a:t/>
            </a:r>
            <a:endParaRPr/>
          </a:p>
          <a:p xmlns:a="http://schemas.openxmlformats.org/drawingml/2006/main">
            <a:r>
              <a:t>Information maintenance: each requirement has an approving source, owner, version and last-checked date. Assign responsibility for correcting changes. Recheck time-sensitive information close to the visit. Never infer live service availability from a directory entry. Unknowns remain visible. Do not collect document scans or detailed clinical records just because they might be useful. Minimize identifiable fields and retain them only as approved. Secure staff login, role-limited access, encrypted transport, change history and a tested correction/deletion process are prerequisites for patient use. An institution must decide the appropriate privacy, research and clinical governance review. No legal-compliance certification is claimed.</a:t>
            </a:r>
            <a:endParaRPr/>
          </a:p>
          <a:p xmlns:a="http://schemas.openxmlformats.org/drawingml/2006/main">
            <a:r>
              <a:t/>
            </a:r>
            <a:endParaRPr/>
          </a:p>
          <a:p xmlns:a="http://schemas.openxmlformats.org/drawingml/2006/main">
            <a:r>
              <a:t>Cost display is secondary: use clinic-approved fee ranges with included and excluded items, a date and clear unknowns. Families can add estimated travel or stay expenses. Show lost earnings separately. Pending aid is not confirmed payment. If a staff member cannot maintain a fee estimate, leave it unknown. A budget shortfall prompts help and must not suppress necessary care.</a:t>
            </a:r>
            <a:endParaRPr/>
          </a:p>
          <a:p xmlns:a="http://schemas.openxmlformats.org/drawingml/2006/main">
            <a:r>
              <a:t/>
            </a:r>
            <a:endParaRPr/>
          </a:p>
          <a:p xmlns:a="http://schemas.openxmlformats.org/drawingml/2006/main">
            <a:r>
              <a:t>Hardware assumptions: existing phones and one clinic computer, with staff assistance and printed checklists. A basic demonstration can work on development hardware. Hosting, support and actual clinic resources require validation before deployment.</a:t>
            </a:r>
            <a:endParaRPr/>
          </a:p>
          <a:p xmlns:a="http://schemas.openxmlformats.org/drawingml/2006/main">
            <a:r>
              <a:t/>
            </a:r>
            <a:endParaRPr/>
          </a:p>
          <a:p xmlns:a="http://schemas.openxmlformats.org/drawingml/2006/main">
            <a:r>
              <a:t>Sources: WHO, Recommendations on digital interventions for health system strengthening (2019), https://www.who.int/publications/i/item/9789241550505 . The guideline emphasizes feasibility, harms, resource use and equity and cautions that digital tools cannot replace functioning health systems. AIIMS medical social service functions: https://www.aiims.edu/index.php/en/2023-07-19-08-55-03 . These sources support the need for a real staff workflow, not a prediction of this team’s build speed.</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status: a proposed student project. No interview, prototype, partnership, approval, pilot or impact result is claimed. The exact problem statement remains: How might we help patients and caregivers complete clinician-recommended, non-emergency hospital visits on time, with fewer avoidable journeys and unexpected expenses?</a:t>
            </a:r>
            <a:endParaRPr/>
          </a:p>
          <a:p xmlns:a="http://schemas.openxmlformats.org/drawingml/2006/main">
            <a:r>
              <a:t/>
            </a:r>
            <a:endParaRPr/>
          </a:p>
          <a:p xmlns:a="http://schemas.openxmlformats.org/drawingml/2006/main">
            <a:r>
              <a:t>First scope: one willing clinic and one non-emergency referral type with a repeatable visit checklist and a staff member who can act on practical barriers. Choose the actual visit type with the partner after observing its workflow. If the main barriers are unavailable clinical capacity, unaffordable treatment or unavailable transport that staff cannot address, this software alone is unlikely to help. Reconsider the problem or proposed intervention.</a:t>
            </a:r>
            <a:endParaRPr/>
          </a:p>
          <a:p xmlns:a="http://schemas.openxmlformats.org/drawingml/2006/main">
            <a:r>
              <a:t/>
            </a:r>
            <a:endParaRPr/>
          </a:p>
          <a:p xmlns:a="http://schemas.openxmlformats.org/drawingml/2006/main">
            <a:r>
              <a:t>Illustrative family journey, not an observed result: a caregiver receives the clinic-approved destination and checklist for an already recommended visit. They notice that one required administrative document is missing and flag it before travelling. A staff member confirms what is needed, helps resolve the issue or explains the next step, and updates the checklist. After the visit, staff separately record attendance and whether the patient received the planned service. The tool’s useful work is helping the family resolve a preventable barrier in time. A reminder may support the process but is not its central mechanism. The checklist must never delay necessary care or override a clinician.</a:t>
            </a:r>
            <a:endParaRPr/>
          </a:p>
          <a:p xmlns:a="http://schemas.openxmlformats.org/drawingml/2006/main">
            <a:r>
              <a:t/>
            </a:r>
            <a:endParaRPr/>
          </a:p>
          <a:p xmlns:a="http://schemas.openxmlformats.org/drawingml/2006/main">
            <a:r>
              <a:t>Proposed 12–16-week plan, conditional on actual team capacity and partner access:</a:t>
            </a:r>
            <a:endParaRPr/>
          </a:p>
          <a:p xmlns:a="http://schemas.openxmlformats.org/drawingml/2006/main">
            <a:r>
              <a:t>Month 1: find a willing clinic, agree on one referral type, observe the paper or spreadsheet workflow and identify which missed steps staff can resolve. Obtain the required approvals for each activity. Build a paper checklist and fictional-case screen demonstration. Agree who would maintain information and follow up barriers. If no partner, meaningful unmet need or staff owner emerges, keep the deliverable as a fictional-case prototype and do not claim real-world impact.</a:t>
            </a:r>
            <a:endParaRPr/>
          </a:p>
          <a:p xmlns:a="http://schemas.openxmlformats.org/drawingml/2006/main">
            <a:r>
              <a:t>Month 2: build the checklist, staff issue queue and service-outcome log. Test with fictional cases, including missing information, staff reassignment, duplicate entries and stale requirements. Check language comprehension, phone layouts, printed output and restricted access. Reduce features if the four students’ capacity is insufficient.</a:t>
            </a:r>
            <a:endParaRPr/>
          </a:p>
          <a:p xmlns:a="http://schemas.openxmlformats.org/drawingml/2006/main">
            <a:r>
              <a:t>Month 3: only after clinic approval, consent procedures and applicable institutional review, conduct a small supervised feasibility pilot. Establish a usual-care baseline for the same pathway where permitted. Examine usability, accuracy, staff workload and whether reported barriers can actually be resolved. A small pilot is not a reliable causal impact trial.</a:t>
            </a:r>
            <a:endParaRPr/>
          </a:p>
          <a:p xmlns:a="http://schemas.openxmlformats.org/drawingml/2006/main">
            <a:r>
              <a:t>Month 4, if available: fix problems, document the template and data-maintenance process, train the clinic owner and agree on support or close the pilot safely. Wider rollout requires later evaluation and resources.</a:t>
            </a:r>
            <a:endParaRPr/>
          </a:p>
          <a:p xmlns:a="http://schemas.openxmlformats.org/drawingml/2006/main">
            <a:r>
              <a:t/>
            </a:r>
            <a:endParaRPr/>
          </a:p>
          <a:p xmlns:a="http://schemas.openxmlformats.org/drawingml/2006/main">
            <a:r>
              <a:t>The timeline is an assumption for planning a narrow build. It does not imply known weekly hours, prior technical competence, budget, secured partner access or guaranteed patient recruitment. Software buildability and clinical or social impact are separate questions.</a:t>
            </a:r>
            <a:endParaRPr/>
          </a:p>
          <a:p xmlns:a="http://schemas.openxmlformats.org/drawingml/2006/main">
            <a:r>
              <a:t/>
            </a:r>
            <a:endParaRPr/>
          </a:p>
          <a:p xmlns:a="http://schemas.openxmlformats.org/drawingml/2006/main">
            <a:r>
              <a:t>Primary outcome: the proportion of all enrolled referrals receiving the clinician-specified service within the clinician-specified timeframe. Include people who never travel in the denominator. Record the date, service outcome and source of confirmation. Distinguish attended/service received, attended/service not received, rescheduled, declined and unknown or unreachable. Unknown outcomes remain visible and are not silently counted as completed. Follow-up must respect consent and the clinic’s policy.</a:t>
            </a:r>
            <a:endParaRPr/>
          </a:p>
          <a:p xmlns:a="http://schemas.openxmlformats.org/drawingml/2006/main">
            <a:r>
              <a:t/>
            </a:r>
            <a:endParaRPr/>
          </a:p>
          <a:p xmlns:a="http://schemas.openxmlformats.org/drawingml/2006/main">
            <a:r>
              <a:t>Secondary measures: unsuccessful journeys with a specified administrative, documentation or service-availability barrier; patient-reported unexpected expenses; agreement between optional cost ranges and actual patient cash spending for a consistently defined visit episode; patient comprehension; and staff time per referral. Show household-reported lost earnings separately. Do not classify clinically necessary repeat visits as avoidable. Check for unsafe delay, missed necessary care, incorrect advice and stale information. Set definitions before the pilot and report denominators, missing outcomes and selection limits. No numerical reduction target is claimed before a baseline.</a:t>
            </a:r>
            <a:endParaRPr/>
          </a:p>
          <a:p xmlns:a="http://schemas.openxmlformats.org/drawingml/2006/main">
            <a:r>
              <a:t/>
            </a:r>
            <a:endParaRPr/>
          </a:p>
          <a:p xmlns:a="http://schemas.openxmlformats.org/drawingml/2006/main">
            <a:r>
              <a:t>Potential impact: a useful and maintainable workflow could later serve more referrals and clinics through locally approved templates. That broader reach depends on observed benefit, usable information, staff capacity, governance, funding and continued maintenance. This is potential, not proven impact or an estimate of lives saved. A clinic or NGO could eventually support operation with free patient access, but no partner, funding or maintenance agreement is secured. Avoid paid rankings or referral commissions.</a:t>
            </a:r>
            <a:endParaRPr/>
          </a:p>
          <a:p xmlns:a="http://schemas.openxmlformats.org/drawingml/2006/main">
            <a:r>
              <a:t/>
            </a:r>
            <a:endParaRPr/>
          </a:p>
          <a:p xmlns:a="http://schemas.openxmlformats.org/drawingml/2006/main">
            <a:r>
              <a:t>Clinical safety: clinicians retain decisions about treatment and timing. The tool records administrative readiness, not medical fitness. A shortfall or unresolved requirement triggers staff support and never hides necessary care. Emergency or newly urgent needs bypass this planning workflow and require appropriate clinical help. Staff must have a clear process to route health questions to a clinician.</a:t>
            </a:r>
            <a:endParaRPr/>
          </a:p>
          <a:p xmlns:a="http://schemas.openxmlformats.org/drawingml/2006/main">
            <a:r>
              <a:t/>
            </a:r>
            <a:endParaRPr/>
          </a:p>
          <a:p xmlns:a="http://schemas.openxmlformats.org/drawingml/2006/main">
            <a:r>
              <a:t>Sources supporting the rationale and its limits: Padhy et al., PLOS ONE (2024), https://journals.plos.org/plosone/article?id=10.1371/journal.pone.0303401 (older eye-care referral data, local observational evidence, not a CarePath effect estimate); Favaretti et al., BMC Public Health (2024), https://pubmed.ncbi.nlm.nih.gov/39245777/ (specific hypertension reminder trial, not evidence that all reminders fail); JEEViKA Swasthya Mitra qualitative study (2025), https://pmc.ncbi.nlm.nih.gov/articles/PMC11771127/ (existing India-specific navigation precedent, not a causal impact estimate); WHO digital intervention guidance, https://www.who.int/publications/i/item/9789241550505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4dcf3aa98e46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cdfc66c2f94f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62e18bce68418d" /><Relationship Type="http://schemas.openxmlformats.org/officeDocument/2006/relationships/image" Target="/ppt/media/image.png" Id="Ra9e65d2f7e8c4be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GENESIS COVER">
    <p:bg>
      <p:bgPr>
        <a:solidFill xmlns:a="http://schemas.openxmlformats.org/drawingml/2006/main">
          <a:schemeClr val="tx2"/>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GENESIS CONTENT">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44EA620-4CF4-4F4E-9063-454C1E08DD22}"/>
              </a:ext>
            </a:extLst>
          </p:cNvPr>
          <p:cNvSpPr>
            <a:spLocks xmlns:a="http://schemas.openxmlformats.org/drawingml/2006/main" noGrp="1"/>
          </p:cNvSpPr>
          <p:nvPr/>
        </p:nvSpPr>
        <p:spPr>
          <a:xfrm xmlns:a="http://schemas.openxmlformats.org/drawingml/2006/main">
            <a:off x="10911535" y="320040"/>
            <a:ext cx="822960" cy="822960"/>
          </a:xfrm>
          <a:prstGeom xmlns:a="http://schemas.openxmlformats.org/drawingml/2006/main" prst="roundRect">
            <a:avLst>
              <a:gd name="adj" fmla="val 13333"/>
            </a:avLst>
          </a:prstGeom>
          <a:solidFill xmlns:a="http://schemas.openxmlformats.org/drawingml/2006/main">
            <a:schemeClr val="bg1"/>
          </a:solidFill>
          <a:ln xmlns:a="http://schemas.openxmlformats.org/drawingml/2006/main" w="9525">
            <a:solidFill>
              <a:schemeClr val="accent6"/>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pic>
        <p:nvPicPr>
          <p:cNvPr id="3" name="Image 0">
            <a:extLst xmlns:a="http://schemas.openxmlformats.org/drawingml/2006/main">
              <a:ext uri="{FF2B5EF4-FFF2-40B4-BE49-F238E27FC236}">
                <a16:creationId xmlns:a16="http://schemas.microsoft.com/office/drawing/2014/main" id="{903F1437-1413-4AA3-80AE-86445A69A129}"/>
              </a:ext>
            </a:extLst>
          </p:cNvPr>
          <p:cNvPicPr>
            <a:picLocks xmlns:a="http://schemas.openxmlformats.org/drawingml/2006/main" noChangeAspect="1"/>
          </p:cNvPicPr>
          <p:nvPr/>
        </p:nvPicPr>
        <p:blipFill>
          <a:blip xmlns:r="http://schemas.openxmlformats.org/officeDocument/2006/relationships" xmlns:a="http://schemas.openxmlformats.org/drawingml/2006/main" r:embed="Ra9e65d2f7e8c4be3"/>
          <a:stretch xmlns:a="http://schemas.openxmlformats.org/drawingml/2006/main">
            <a:fillRect l="0" t="0" r="0" b="0"/>
          </a:stretch>
        </p:blipFill>
        <p:spPr>
          <a:xfrm xmlns:a="http://schemas.openxmlformats.org/drawingml/2006/main">
            <a:off x="11055950" y="384048"/>
            <a:ext cx="534131" cy="694944"/>
          </a:xfrm>
          <a:prstGeom xmlns:a="http://schemas.openxmlformats.org/drawingml/2006/main" prst="rect">
            <a:avLst/>
          </a:prstGeom>
        </p:spPr>
      </p:pic>
      <p:sp>
        <p:nvSpPr>
          <p:cNvPr id="4" name="Shape 1">
            <a:extLst xmlns:a="http://schemas.openxmlformats.org/drawingml/2006/main">
              <a:ext uri="{FF2B5EF4-FFF2-40B4-BE49-F238E27FC236}">
                <a16:creationId xmlns:a16="http://schemas.microsoft.com/office/drawing/2014/main" id="{41606104-DAD8-4013-9621-5A6379165DD0}"/>
              </a:ext>
            </a:extLst>
          </p:cNvPr>
          <p:cNvSpPr>
            <a:spLocks xmlns:a="http://schemas.openxmlformats.org/drawingml/2006/main" noGrp="1"/>
          </p:cNvSpPr>
          <p:nvPr/>
        </p:nvSpPr>
        <p:spPr>
          <a:xfrm xmlns:a="http://schemas.openxmlformats.org/drawingml/2006/main">
            <a:off x="0" y="6355080"/>
            <a:ext cx="12191695" cy="502920"/>
          </a:xfrm>
          <a:prstGeom xmlns:a="http://schemas.openxmlformats.org/drawingml/2006/main" prst="rect">
            <a:avLst/>
          </a:prstGeom>
          <a:solidFill xmlns:a="http://schemas.openxmlformats.org/drawingml/2006/main">
            <a:schemeClr val="tx2"/>
          </a:solidFill>
        </p:spPr>
      </p:sp>
      <p:sp>
        <p:nvSpPr>
          <p:cNvPr id="5" name="Text 2">
            <a:extLst xmlns:a="http://schemas.openxmlformats.org/drawingml/2006/main">
              <a:ext uri="{FF2B5EF4-FFF2-40B4-BE49-F238E27FC236}">
                <a16:creationId xmlns:a16="http://schemas.microsoft.com/office/drawing/2014/main" id="{210009E0-8C05-4694-8AFE-906F85B1B274}"/>
              </a:ext>
            </a:extLst>
          </p:cNvPr>
          <p:cNvSpPr>
            <a:spLocks xmlns:a="http://schemas.openxmlformats.org/drawingml/2006/main" noGrp="1"/>
          </p:cNvSpPr>
          <p:nvPr/>
        </p:nvSpPr>
        <p:spPr>
          <a:xfrm xmlns:a="http://schemas.openxmlformats.org/drawingml/2006/main">
            <a:off x="2286000" y="6355080"/>
            <a:ext cx="7619695"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spc="100">
                <a:solidFill>
                  <a:schemeClr val="accent6"/>
                </a:solidFill>
              </a:rPr>
              <a:t>Genesis Ideathon – Pre-Ideathon Template</a:t>
            </a:r>
            <a:endParaRPr sz="1050"/>
          </a:p>
        </p:txBody>
      </p:sp>
      <p:sp>
        <p:nvSpPr>
          <p:cNvPr id="6" name="Text 3">
            <a:extLst xmlns:a="http://schemas.openxmlformats.org/drawingml/2006/main">
              <a:ext uri="{FF2B5EF4-FFF2-40B4-BE49-F238E27FC236}">
                <a16:creationId xmlns:a16="http://schemas.microsoft.com/office/drawing/2014/main" id="{62E5DEC3-4B08-4D6A-9CE3-25A335804062}"/>
              </a:ext>
            </a:extLst>
          </p:cNvPr>
          <p:cNvSpPr>
            <a:spLocks xmlns:a="http://schemas.openxmlformats.org/drawingml/2006/main" noGrp="1"/>
          </p:cNvSpPr>
          <p:nvPr/>
        </p:nvSpPr>
        <p:spPr>
          <a:xfrm xmlns:a="http://schemas.openxmlformats.org/drawingml/2006/main">
            <a:off x="11259007" y="6409944"/>
            <a:ext cx="457200" cy="395935"/>
          </a:xfrm>
          <a:prstGeom xmlns:a="http://schemas.openxmlformats.org/drawingml/2006/main" prst="hexagon">
            <a:avLst/>
          </a:prstGeom>
          <a:solidFill xmlns:a="http://schemas.openxmlformats.org/drawingml/2006/main">
            <a:schemeClr val="accent3"/>
          </a:solidFill>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7" name="Text 4">
            <a:extLst xmlns:a="http://schemas.openxmlformats.org/drawingml/2006/main">
              <a:ext uri="{FF2B5EF4-FFF2-40B4-BE49-F238E27FC236}">
                <a16:creationId xmlns:a16="http://schemas.microsoft.com/office/drawing/2014/main" id="{E3202BFD-F0AE-4432-AB75-F05625322E30}"/>
              </a:ext>
            </a:extLst>
          </p:cNvPr>
          <p:cNvSpPr>
            <a:spLocks xmlns:a="http://schemas.openxmlformats.org/drawingml/2006/main" noGrp="1"/>
          </p:cNvSpPr>
          <p:nvPr/>
        </p:nvSpPr>
        <p:spPr>
          <a:xfrm xmlns:a="http://schemas.openxmlformats.org/drawingml/2006/main" rot="5400000">
            <a:off x="10610311" y="4686300"/>
            <a:ext cx="1425408" cy="1234440"/>
          </a:xfrm>
          <a:prstGeom xmlns:a="http://schemas.openxmlformats.org/drawingml/2006/main" prst="hexagon">
            <a:avLst/>
          </a:prstGeom>
          <a:ln xmlns:a="http://schemas.openxmlformats.org/drawingml/2006/main" w="15875">
            <a:solidFill>
              <a:schemeClr val="accent4">
                <a:alpha val="28000"/>
              </a:schemeClr>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8" name="Text 5">
            <a:extLst xmlns:a="http://schemas.openxmlformats.org/drawingml/2006/main">
              <a:ext uri="{FF2B5EF4-FFF2-40B4-BE49-F238E27FC236}">
                <a16:creationId xmlns:a16="http://schemas.microsoft.com/office/drawing/2014/main" id="{8645EFEA-9947-4B97-A3A0-A32C64D9EA1D}"/>
              </a:ext>
            </a:extLst>
          </p:cNvPr>
          <p:cNvSpPr>
            <a:spLocks xmlns:a="http://schemas.openxmlformats.org/drawingml/2006/main" noGrp="1"/>
          </p:cNvSpPr>
          <p:nvPr/>
        </p:nvSpPr>
        <p:spPr>
          <a:xfrm xmlns:a="http://schemas.openxmlformats.org/drawingml/2006/main" rot="5400000">
            <a:off x="9750599" y="5349240"/>
            <a:ext cx="950272" cy="822960"/>
          </a:xfrm>
          <a:prstGeom xmlns:a="http://schemas.openxmlformats.org/drawingml/2006/main" prst="hexagon">
            <a:avLst/>
          </a:prstGeom>
          <a:ln xmlns:a="http://schemas.openxmlformats.org/drawingml/2006/main" w="15875">
            <a:solidFill>
              <a:schemeClr val="accent4">
                <a:alpha val="20000"/>
              </a:schemeClr>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9" name="Text 6">
            <a:extLst xmlns:a="http://schemas.openxmlformats.org/drawingml/2006/main">
              <a:ext uri="{FF2B5EF4-FFF2-40B4-BE49-F238E27FC236}">
                <a16:creationId xmlns:a16="http://schemas.microsoft.com/office/drawing/2014/main" id="{2BA0C441-87D1-4C6B-AABD-CD4565D48FC6}"/>
              </a:ext>
            </a:extLst>
          </p:cNvPr>
          <p:cNvSpPr>
            <a:spLocks xmlns:a="http://schemas.openxmlformats.org/drawingml/2006/main" noGrp="1"/>
          </p:cNvSpPr>
          <p:nvPr/>
        </p:nvSpPr>
        <p:spPr>
          <a:xfrm xmlns:a="http://schemas.openxmlformats.org/drawingml/2006/main" rot="5400000">
            <a:off x="11579399" y="3840480"/>
            <a:ext cx="950272" cy="822960"/>
          </a:xfrm>
          <a:prstGeom xmlns:a="http://schemas.openxmlformats.org/drawingml/2006/main" prst="hexagon">
            <a:avLst/>
          </a:prstGeom>
          <a:ln xmlns:a="http://schemas.openxmlformats.org/drawingml/2006/main" w="15875">
            <a:solidFill>
              <a:schemeClr val="accent4">
                <a:alpha val="18000"/>
              </a:schemeClr>
            </a:solidFill>
          </a:ln>
        </p:spPr>
        <p:txBody>
          <a:bodyPr xmlns:a="http://schemas.openxmlformats.org/drawingml/2006/main" wrap="square" anchor="ctr"/>
          <a:lstStyle xmlns:a="http://schemas.openxmlformats.org/drawingml/2006/main"/>
          <a:p xmlns:a="http://schemas.openxmlformats.org/drawingml/2006/main">
            <a:pPr marL="0" indent="0">
              <a:buNone/>
            </a:pPr>
            <a:endParaRPr/>
          </a:p>
        </p:txBody>
      </p:sp>
      <p:sp>
        <p:nvSpPr>
          <p:cNvPr id="10" name="Text 7">
            <a:extLst xmlns:a="http://schemas.openxmlformats.org/drawingml/2006/main">
              <a:ext uri="{FF2B5EF4-FFF2-40B4-BE49-F238E27FC236}">
                <a16:creationId xmlns:a16="http://schemas.microsoft.com/office/drawing/2014/main" id="{1B0D48B5-1C3B-4141-99ED-00106633F0CF}"/>
              </a:ext>
            </a:extLst>
          </p:cNvPr>
          <p:cNvSpPr>
            <a:spLocks xmlns:a="http://schemas.openxmlformats.org/drawingml/2006/main" noGrp="1"/>
          </p:cNvSpPr>
          <p:nvPr>
            <p:ph type="title" idx="108" hasCustomPrompt="1"/>
          </p:nvPr>
        </p:nvSpPr>
        <p:spPr>
          <a:xfrm xmlns:a="http://schemas.openxmlformats.org/drawingml/2006/main">
            <a:off x="3246120" y="320040"/>
            <a:ext cx="7498080" cy="8229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ctr">
              <a:buNone/>
              <a:defRPr sz="2400" b="1" kern="0" spc="100">
                <a:solidFill>
                  <a:schemeClr val="tx2"/>
                </a:solidFill>
                <a:latin typeface="Cambria"/>
                <a:ea typeface="Cambria"/>
                <a:cs typeface="Cambria"/>
              </a:defRPr>
            </a:lvl1pPr>
          </a:lstStyle>
          <a:p xmlns:a="http://schemas.openxmlformats.org/drawingml/2006/main">
            <a:pPr marL="0" indent="0" algn="ctr">
              <a:buNone/>
            </a:pPr>
            <a:r>
              <a:rPr sz="2400" b="1" spc="100">
                <a:solidFill>
                  <a:schemeClr val="tx2"/>
                </a:solidFill>
                <a:latin typeface="Cambria"/>
                <a:ea typeface="Cambria"/>
                <a:cs typeface="Cambria"/>
              </a:rPr>
              <a:t>SLIDE TITLE</a:t>
            </a:r>
            <a:endParaRPr sz="2400"/>
          </a:p>
        </p:txBody>
      </p:sp>
      <p:sp>
        <p:nvSpPr>
          <p:cNvPr id="25" name="Slide Number Placeholder 0">
            <a:extLst xmlns:a="http://schemas.openxmlformats.org/drawingml/2006/main">
              <a:ext uri="{FF2B5EF4-FFF2-40B4-BE49-F238E27FC236}">
                <a16:creationId xmlns:a16="http://schemas.microsoft.com/office/drawing/2014/main" id="{EAB8FF4E-516A-48DC-A58E-06D7087E0038}"/>
              </a:ext>
            </a:extLst>
          </p:cNvPr>
          <p:cNvSpPr>
            <a:spLocks xmlns:a="http://schemas.openxmlformats.org/drawingml/2006/main" noGrp="1"/>
          </p:cNvSpPr>
          <p:nvPr>
            <p:ph type="sldNum" idx="4294967295"/>
          </p:nvPr>
        </p:nvSpPr>
        <p:spPr>
          <a:xfrm xmlns:a="http://schemas.openxmlformats.org/drawingml/2006/main">
            <a:off x="11259007" y="6409944"/>
            <a:ext cx="457200" cy="395935"/>
          </a:xfrm>
          <a:prstGeom xmlns:a="http://schemas.openxmlformats.org/drawingml/2006/main" prst="rect">
            <a:avLst/>
          </a:prstGeom>
        </p:spPr>
        <p:txBody>
          <a:bodyPr xmlns:a="http://schemas.openxmlformats.org/drawingml/2006/main" lIns="0" tIns="0" rIns="0" bIns="0" anchor="ctr"/>
          <a:lstStyle xmlns:a="http://schemas.openxmlformats.org/drawingml/2006/main">
            <a:lvl1pPr>
              <a:buNone/>
              <a:defRPr sz="1100">
                <a:solidFill>
                  <a:schemeClr val="tx2"/>
                </a:solidFill>
                <a:latin typeface="Calibri"/>
                <a:ea typeface="Calibri"/>
                <a:cs typeface="Calibri"/>
              </a:defRPr>
            </a:lvl1pPr>
          </a:lstStyle>
          <a:p xmlns:a="http://schemas.openxmlformats.org/drawingml/2006/main">
            <a:pPr algn="ctr">
              <a:buNone/>
            </a:pPr>
            <a:fld id="{F7021451-1387-4CA6-816F-3879F97B5CBC}" type="slidenum">
              <a:rPr b="1"/>
              <a:t>1003</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38bdc72b194152" /><Relationship Type="http://schemas.openxmlformats.org/officeDocument/2006/relationships/slideLayout" Target="/ppt/slideLayouts/slideLayout1.xml" Id="Ra56a3dba620c4049" /><Relationship Type="http://schemas.openxmlformats.org/officeDocument/2006/relationships/slideLayout" Target="/ppt/slideLayouts/slideLayout2.xml" Id="R29de27ad959a4f48" /><Relationship Type="http://schemas.openxmlformats.org/officeDocument/2006/relationships/slideLayout" Target="/ppt/slideLayouts/slideLayout3.xml" Id="R45198f0db3e3471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E3CFA299-3CDC-41D8-8C81-B6C3EAF49216}"/>
              </a:ext>
            </a:extLst>
          </p:cNvPr>
          <p:cNvSpPr>
            <a:spLocks xmlns:a="http://schemas.openxmlformats.org/drawingml/2006/main" noGrp="1"/>
          </p:cNvSpPr>
          <p:nvPr>
            <p:ph type="sldNum" idx="4294967295"/>
          </p:nvPr>
        </p:nvSpPr>
        <p:spPr>
          <a:xfrm xmlns:a="http://schemas.openxmlformats.org/drawingml/2006/main">
            <a:off x="11259007" y="6409944"/>
            <a:ext cx="457200" cy="395935"/>
          </a:xfrm>
          <a:prstGeom xmlns:a="http://schemas.openxmlformats.org/drawingml/2006/main" prst="rect">
            <a:avLst/>
          </a:prstGeom>
        </p:spPr>
        <p:txBody>
          <a:bodyPr xmlns:a="http://schemas.openxmlformats.org/drawingml/2006/main" lIns="0" tIns="0" rIns="0" bIns="0" anchor="ctr"/>
          <a:lstStyle xmlns:a="http://schemas.openxmlformats.org/drawingml/2006/main">
            <a:lvl1pPr>
              <a:buNone/>
              <a:defRPr sz="1100">
                <a:solidFill>
                  <a:schemeClr val="tx2"/>
                </a:solidFill>
                <a:latin typeface="Calibri"/>
                <a:ea typeface="Calibri"/>
                <a:cs typeface="Calibri"/>
              </a:defRPr>
            </a:lvl1pPr>
          </a:lstStyle>
          <a:p xmlns:a="http://schemas.openxmlformats.org/drawingml/2006/main">
            <a:pPr algn="ctr">
              <a:buNone/>
            </a:pPr>
            <a:fld id="{F7021451-1387-4CA6-816F-3879F97B5CBC}" type="slidenum">
              <a:rPr b="1"/>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6a3dba620c4049"/>
    <p:sldLayoutId xmlns:r="http://schemas.openxmlformats.org/officeDocument/2006/relationships" id="2147483650" r:id="R29de27ad959a4f48"/>
    <p:sldLayoutId xmlns:r="http://schemas.openxmlformats.org/officeDocument/2006/relationships" id="2147483651" r:id="R45198f0db3e3471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enesis Ideathon">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4c1defba30624986" /><Relationship Type="http://schemas.openxmlformats.org/officeDocument/2006/relationships/image" Target="/ppt/media/image2.png" Id="Ra3d65db1ef184768" /><Relationship Type="http://schemas.openxmlformats.org/officeDocument/2006/relationships/notesSlide" Target="/ppt/notesSlides/notesSlide1.xml" Id="Rb193218fb2d647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6f9b75f24b1148df" /><Relationship Type="http://schemas.openxmlformats.org/officeDocument/2006/relationships/image" Target="/ppt/media/image3.png" Id="R86279d2098ef42bc" /><Relationship Type="http://schemas.openxmlformats.org/officeDocument/2006/relationships/image" Target="/ppt/media/image4.png" Id="R39b67d7564b545bd" /><Relationship Type="http://schemas.openxmlformats.org/officeDocument/2006/relationships/notesSlide" Target="/ppt/notesSlides/notesSlide2.xml" Id="R0d6213b9bfa14b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9ed3431123ec4446" /><Relationship Type="http://schemas.openxmlformats.org/officeDocument/2006/relationships/image" Target="/ppt/media/image5.png" Id="R2689bcb0167c453a" /><Relationship Type="http://schemas.openxmlformats.org/officeDocument/2006/relationships/image" Target="/ppt/media/image6.png" Id="R7dc61fbf5fbd4289" /><Relationship Type="http://schemas.openxmlformats.org/officeDocument/2006/relationships/notesSlide" Target="/ppt/notesSlides/notesSlide3.xml" Id="Rca36b0beac2040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5b1a01fed86443c0" /><Relationship Type="http://schemas.openxmlformats.org/officeDocument/2006/relationships/image" Target="/ppt/media/image7.png" Id="R9ab00d125e644e08" /><Relationship Type="http://schemas.openxmlformats.org/officeDocument/2006/relationships/image" Target="/ppt/media/image8.png" Id="R3873870f1b384eaa" /><Relationship Type="http://schemas.openxmlformats.org/officeDocument/2006/relationships/notesSlide" Target="/ppt/notesSlides/notesSlide4.xml" Id="Rd0a58903576041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448ca0b279a54171" /><Relationship Type="http://schemas.openxmlformats.org/officeDocument/2006/relationships/image" Target="/ppt/media/image9.png" Id="Rff9e596a4d4f4a89" /><Relationship Type="http://schemas.openxmlformats.org/officeDocument/2006/relationships/image" Target="/ppt/media/image10.png" Id="Rd436c1f5d5fe4cf5" /><Relationship Type="http://schemas.openxmlformats.org/officeDocument/2006/relationships/notesSlide" Target="/ppt/notesSlides/notesSlide5.xml" Id="R2f459010c52144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adf206886e8c493c" /><Relationship Type="http://schemas.openxmlformats.org/officeDocument/2006/relationships/image" Target="/ppt/media/image11.png" Id="Ra4e589c21b2d4592" /><Relationship Type="http://schemas.openxmlformats.org/officeDocument/2006/relationships/image" Target="/ppt/media/image12.png" Id="Rdb1cb992b67445a3" /><Relationship Type="http://schemas.openxmlformats.org/officeDocument/2006/relationships/notesSlide" Target="/ppt/notesSlides/notesSlide6.xml" Id="Rfeb6df29199f4e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20474d062b6444f6" /><Relationship Type="http://schemas.openxmlformats.org/officeDocument/2006/relationships/image" Target="/ppt/media/image13.png" Id="R682002241c304f1c" /><Relationship Type="http://schemas.openxmlformats.org/officeDocument/2006/relationships/image" Target="/ppt/media/image14.png" Id="Rd6ecb901a1344ddf" /><Relationship Type="http://schemas.openxmlformats.org/officeDocument/2006/relationships/notesSlide" Target="/ppt/notesSlides/notesSlide7.xml" Id="R116ebe83353646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2656e34489bb466a" /><Relationship Type="http://schemas.openxmlformats.org/officeDocument/2006/relationships/image" Target="/ppt/media/image15.png" Id="R37f5b3a8bba84f2f" /><Relationship Type="http://schemas.openxmlformats.org/officeDocument/2006/relationships/image" Target="/ppt/media/image16.png" Id="Ra240edcd53ac4604" /><Relationship Type="http://schemas.openxmlformats.org/officeDocument/2006/relationships/notesSlide" Target="/ppt/notesSlides/notesSlide8.xml" Id="R9d81499590a04ec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Cover Hexagon">
            <a:extLst xmlns:a="http://schemas.openxmlformats.org/drawingml/2006/main">
              <a:ext uri="{FF2B5EF4-FFF2-40B4-BE49-F238E27FC236}">
                <a16:creationId xmlns:a16="http://schemas.microsoft.com/office/drawing/2014/main" id="{D490F0F0-BE82-40F5-B81F-18EE74E8F43F}"/>
              </a:ext>
            </a:extLst>
          </p:cNvPr>
          <p:cNvSpPr>
            <a:spLocks xmlns:a="http://schemas.openxmlformats.org/drawingml/2006/main" noGrp="1"/>
          </p:cNvSpPr>
          <p:nvPr/>
        </p:nvSpPr>
        <p:spPr>
          <a:xfrm xmlns:a="http://schemas.openxmlformats.org/drawingml/2006/main" rot="5400000">
            <a:off x="8841585" y="-1222527"/>
            <a:ext cx="3695502" cy="3200400"/>
          </a:xfrm>
          <a:prstGeom xmlns:a="http://schemas.openxmlformats.org/drawingml/2006/main" prst="hexagon">
            <a:avLst/>
          </a:prstGeom>
          <a:ln xmlns:a="http://schemas.openxmlformats.org/drawingml/2006/main" w="15875">
            <a:solidFill>
              <a:schemeClr val="accent4">
                <a:alpha val="50000"/>
              </a:schemeClr>
            </a:solidFill>
            <a:prstDash val="solid"/>
          </a:ln>
        </p:spPr>
      </p:sp>
      <p:sp>
        <p:nvSpPr>
          <p:cNvPr id="3" name="Cover Hexagon">
            <a:extLst xmlns:a="http://schemas.openxmlformats.org/drawingml/2006/main">
              <a:ext uri="{FF2B5EF4-FFF2-40B4-BE49-F238E27FC236}">
                <a16:creationId xmlns:a16="http://schemas.microsoft.com/office/drawing/2014/main" id="{A2CC2778-48DE-47F9-B713-BAE1E3FADB3C}"/>
              </a:ext>
            </a:extLst>
          </p:cNvPr>
          <p:cNvSpPr>
            <a:spLocks xmlns:a="http://schemas.openxmlformats.org/drawingml/2006/main" noGrp="1"/>
          </p:cNvSpPr>
          <p:nvPr/>
        </p:nvSpPr>
        <p:spPr>
          <a:xfrm xmlns:a="http://schemas.openxmlformats.org/drawingml/2006/main" rot="5400000">
            <a:off x="10524081" y="1691640"/>
            <a:ext cx="3695502" cy="3200400"/>
          </a:xfrm>
          <a:prstGeom xmlns:a="http://schemas.openxmlformats.org/drawingml/2006/main" prst="hexagon">
            <a:avLst/>
          </a:prstGeom>
          <a:solidFill xmlns:a="http://schemas.openxmlformats.org/drawingml/2006/main">
            <a:schemeClr val="accent1">
              <a:alpha val="25000"/>
            </a:schemeClr>
          </a:solidFill>
          <a:ln xmlns:a="http://schemas.openxmlformats.org/drawingml/2006/main" w="15875">
            <a:solidFill>
              <a:schemeClr val="accent4">
                <a:alpha val="45000"/>
              </a:schemeClr>
            </a:solidFill>
            <a:prstDash val="solid"/>
          </a:ln>
        </p:spPr>
      </p:sp>
      <p:sp>
        <p:nvSpPr>
          <p:cNvPr id="4" name="Cover Hexagon">
            <a:extLst xmlns:a="http://schemas.openxmlformats.org/drawingml/2006/main">
              <a:ext uri="{FF2B5EF4-FFF2-40B4-BE49-F238E27FC236}">
                <a16:creationId xmlns:a16="http://schemas.microsoft.com/office/drawing/2014/main" id="{A287331A-4D92-4B3A-A2BC-FC009B998C66}"/>
              </a:ext>
            </a:extLst>
          </p:cNvPr>
          <p:cNvSpPr>
            <a:spLocks xmlns:a="http://schemas.openxmlformats.org/drawingml/2006/main" noGrp="1"/>
          </p:cNvSpPr>
          <p:nvPr/>
        </p:nvSpPr>
        <p:spPr>
          <a:xfrm xmlns:a="http://schemas.openxmlformats.org/drawingml/2006/main" rot="5400000">
            <a:off x="8841585" y="4605807"/>
            <a:ext cx="3695502" cy="3200400"/>
          </a:xfrm>
          <a:prstGeom xmlns:a="http://schemas.openxmlformats.org/drawingml/2006/main" prst="hexagon">
            <a:avLst/>
          </a:prstGeom>
          <a:ln xmlns:a="http://schemas.openxmlformats.org/drawingml/2006/main" w="15875">
            <a:solidFill>
              <a:schemeClr val="accent4">
                <a:alpha val="50000"/>
              </a:schemeClr>
            </a:solidFill>
            <a:prstDash val="solid"/>
          </a:ln>
        </p:spPr>
      </p:sp>
      <p:sp>
        <p:nvSpPr>
          <p:cNvPr id="5" name="Cover Hexagon">
            <a:extLst xmlns:a="http://schemas.openxmlformats.org/drawingml/2006/main">
              <a:ext uri="{FF2B5EF4-FFF2-40B4-BE49-F238E27FC236}">
                <a16:creationId xmlns:a16="http://schemas.microsoft.com/office/drawing/2014/main" id="{88D35C03-B36F-40FE-87F5-D41CF28D39CB}"/>
              </a:ext>
            </a:extLst>
          </p:cNvPr>
          <p:cNvSpPr>
            <a:spLocks xmlns:a="http://schemas.openxmlformats.org/drawingml/2006/main" noGrp="1"/>
          </p:cNvSpPr>
          <p:nvPr/>
        </p:nvSpPr>
        <p:spPr>
          <a:xfrm xmlns:a="http://schemas.openxmlformats.org/drawingml/2006/main" rot="5400000">
            <a:off x="6613359" y="3177540"/>
            <a:ext cx="580722" cy="502920"/>
          </a:xfrm>
          <a:prstGeom xmlns:a="http://schemas.openxmlformats.org/drawingml/2006/main" prst="hexagon">
            <a:avLst/>
          </a:prstGeom>
          <a:solidFill xmlns:a="http://schemas.openxmlformats.org/drawingml/2006/main">
            <a:schemeClr val="accent3"/>
          </a:solidFill>
        </p:spPr>
      </p:sp>
      <p:sp>
        <p:nvSpPr>
          <p:cNvPr id="6" name="Cover Hexagon">
            <a:extLst xmlns:a="http://schemas.openxmlformats.org/drawingml/2006/main">
              <a:ext uri="{FF2B5EF4-FFF2-40B4-BE49-F238E27FC236}">
                <a16:creationId xmlns:a16="http://schemas.microsoft.com/office/drawing/2014/main" id="{8BD90C41-3BD9-4829-925A-377F4E5505A9}"/>
              </a:ext>
            </a:extLst>
          </p:cNvPr>
          <p:cNvSpPr>
            <a:spLocks xmlns:a="http://schemas.openxmlformats.org/drawingml/2006/main" noGrp="1"/>
          </p:cNvSpPr>
          <p:nvPr/>
        </p:nvSpPr>
        <p:spPr>
          <a:xfrm xmlns:a="http://schemas.openxmlformats.org/drawingml/2006/main" rot="5400000">
            <a:off x="10849583" y="1728216"/>
            <a:ext cx="337874" cy="292608"/>
          </a:xfrm>
          <a:prstGeom xmlns:a="http://schemas.openxmlformats.org/drawingml/2006/main" prst="hexagon">
            <a:avLst/>
          </a:prstGeom>
          <a:solidFill xmlns:a="http://schemas.openxmlformats.org/drawingml/2006/main">
            <a:schemeClr val="accent3">
              <a:alpha val="70000"/>
            </a:schemeClr>
          </a:solidFill>
        </p:spPr>
      </p:sp>
      <p:sp>
        <p:nvSpPr>
          <p:cNvPr id="7" name="Cover Hexagon">
            <a:extLst xmlns:a="http://schemas.openxmlformats.org/drawingml/2006/main">
              <a:ext uri="{FF2B5EF4-FFF2-40B4-BE49-F238E27FC236}">
                <a16:creationId xmlns:a16="http://schemas.microsoft.com/office/drawing/2014/main" id="{58C31A88-327D-4657-9753-177A360758C1}"/>
              </a:ext>
            </a:extLst>
          </p:cNvPr>
          <p:cNvSpPr>
            <a:spLocks xmlns:a="http://schemas.openxmlformats.org/drawingml/2006/main" noGrp="1"/>
          </p:cNvSpPr>
          <p:nvPr/>
        </p:nvSpPr>
        <p:spPr>
          <a:xfrm xmlns:a="http://schemas.openxmlformats.org/drawingml/2006/main" rot="5400000">
            <a:off x="6868728" y="1440180"/>
            <a:ext cx="4276224" cy="3703320"/>
          </a:xfrm>
          <a:prstGeom xmlns:a="http://schemas.openxmlformats.org/drawingml/2006/main" prst="hexagon">
            <a:avLst/>
          </a:prstGeom>
          <a:solidFill xmlns:a="http://schemas.openxmlformats.org/drawingml/2006/main">
            <a:schemeClr val="accent1">
              <a:alpha val="45000"/>
            </a:schemeClr>
          </a:solidFill>
        </p:spPr>
      </p:sp>
      <p:sp>
        <p:nvSpPr>
          <p:cNvPr id="8" name="Cover Hexagon">
            <a:extLst xmlns:a="http://schemas.openxmlformats.org/drawingml/2006/main">
              <a:ext uri="{FF2B5EF4-FFF2-40B4-BE49-F238E27FC236}">
                <a16:creationId xmlns:a16="http://schemas.microsoft.com/office/drawing/2014/main" id="{1F4D6BDD-69DA-4EC9-849D-21ACB82EB9E2}"/>
              </a:ext>
            </a:extLst>
          </p:cNvPr>
          <p:cNvSpPr>
            <a:spLocks xmlns:a="http://schemas.openxmlformats.org/drawingml/2006/main" noGrp="1"/>
          </p:cNvSpPr>
          <p:nvPr/>
        </p:nvSpPr>
        <p:spPr>
          <a:xfrm xmlns:a="http://schemas.openxmlformats.org/drawingml/2006/main" rot="5400000">
            <a:off x="6755697" y="4800600"/>
            <a:ext cx="844686" cy="731520"/>
          </a:xfrm>
          <a:prstGeom xmlns:a="http://schemas.openxmlformats.org/drawingml/2006/main" prst="hexagon">
            <a:avLst/>
          </a:prstGeom>
          <a:ln xmlns:a="http://schemas.openxmlformats.org/drawingml/2006/main" w="19050">
            <a:solidFill>
              <a:schemeClr val="accent3">
                <a:alpha val="65000"/>
              </a:schemeClr>
            </a:solidFill>
            <a:prstDash val="solid"/>
          </a:ln>
        </p:spPr>
      </p:sp>
      <p:sp>
        <p:nvSpPr>
          <p:cNvPr id="9" name="Cover Hexagon">
            <a:extLst xmlns:a="http://schemas.openxmlformats.org/drawingml/2006/main">
              <a:ext uri="{FF2B5EF4-FFF2-40B4-BE49-F238E27FC236}">
                <a16:creationId xmlns:a16="http://schemas.microsoft.com/office/drawing/2014/main" id="{7012AEBC-01F9-4CE2-B567-59AE94320997}"/>
              </a:ext>
            </a:extLst>
          </p:cNvPr>
          <p:cNvSpPr>
            <a:spLocks xmlns:a="http://schemas.openxmlformats.org/drawingml/2006/main" noGrp="1"/>
          </p:cNvSpPr>
          <p:nvPr/>
        </p:nvSpPr>
        <p:spPr>
          <a:xfrm xmlns:a="http://schemas.openxmlformats.org/drawingml/2006/main" rot="5400000">
            <a:off x="7159089" y="1691640"/>
            <a:ext cx="3695502" cy="3200400"/>
          </a:xfrm>
          <a:prstGeom xmlns:a="http://schemas.openxmlformats.org/drawingml/2006/main" prst="hexagon">
            <a:avLst/>
          </a:prstGeom>
          <a:solidFill xmlns:a="http://schemas.openxmlformats.org/drawingml/2006/main">
            <a:schemeClr val="bg1"/>
          </a:solidFill>
          <a:ln xmlns:a="http://schemas.openxmlformats.org/drawingml/2006/main" w="38100">
            <a:solidFill>
              <a:schemeClr val="accent3"/>
            </a:solidFill>
            <a:prstDash val="solid"/>
          </a:ln>
        </p:spPr>
      </p:sp>
      <p:pic>
        <p:nvPicPr>
          <p:cNvPr id="10" name="Genesis Logo">
            <a:extLst xmlns:a="http://schemas.openxmlformats.org/drawingml/2006/main">
              <a:ext uri="{FF2B5EF4-FFF2-40B4-BE49-F238E27FC236}">
                <a16:creationId xmlns:a16="http://schemas.microsoft.com/office/drawing/2014/main" id="{E158C312-D360-48D7-BC6D-AC436C0F3D13}"/>
              </a:ext>
            </a:extLst>
          </p:cNvPr>
          <p:cNvPicPr>
            <a:picLocks xmlns:a="http://schemas.openxmlformats.org/drawingml/2006/main" noChangeAspect="1"/>
          </p:cNvPicPr>
          <p:nvPr/>
        </p:nvPicPr>
        <p:blipFill>
          <a:blip xmlns:r="http://schemas.openxmlformats.org/officeDocument/2006/relationships" xmlns:a="http://schemas.openxmlformats.org/drawingml/2006/main" r:embed="Ra3d65db1ef184768"/>
          <a:stretch xmlns:a="http://schemas.openxmlformats.org/drawingml/2006/main">
            <a:fillRect l="0" t="0" r="0" b="0"/>
          </a:stretch>
        </p:blipFill>
        <p:spPr>
          <a:xfrm xmlns:a="http://schemas.openxmlformats.org/drawingml/2006/main">
            <a:off x="8110766" y="2125980"/>
            <a:ext cx="1792148" cy="2331720"/>
          </a:xfrm>
          <a:prstGeom xmlns:a="http://schemas.openxmlformats.org/drawingml/2006/main" prst="rect">
            <a:avLst/>
          </a:prstGeom>
        </p:spPr>
      </p:pic>
      <p:sp>
        <p:nvSpPr>
          <p:cNvPr id="11" name="Kicker">
            <a:extLst xmlns:a="http://schemas.openxmlformats.org/drawingml/2006/main">
              <a:ext uri="{FF2B5EF4-FFF2-40B4-BE49-F238E27FC236}">
                <a16:creationId xmlns:a16="http://schemas.microsoft.com/office/drawing/2014/main" id="{E492E8F4-BCA5-4E89-B22C-D11FE30A94A7}"/>
              </a:ext>
            </a:extLst>
          </p:cNvPr>
          <p:cNvSpPr>
            <a:spLocks xmlns:a="http://schemas.openxmlformats.org/drawingml/2006/main" noGrp="1"/>
          </p:cNvSpPr>
          <p:nvPr/>
        </p:nvSpPr>
        <p:spPr>
          <a:xfrm xmlns:a="http://schemas.openxmlformats.org/drawingml/2006/main">
            <a:off x="548640" y="502920"/>
            <a:ext cx="53035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400">
                <a:solidFill>
                  <a:schemeClr val="accent3"/>
                </a:solidFill>
              </a:rPr>
              <a:t>PRE-IDEATHON TEMPLATE</a:t>
            </a:r>
            <a:endParaRPr sz="1200"/>
          </a:p>
        </p:txBody>
      </p:sp>
      <p:sp>
        <p:nvSpPr>
          <p:cNvPr id="12" name="Event Title">
            <a:extLst xmlns:a="http://schemas.openxmlformats.org/drawingml/2006/main">
              <a:ext uri="{FF2B5EF4-FFF2-40B4-BE49-F238E27FC236}">
                <a16:creationId xmlns:a16="http://schemas.microsoft.com/office/drawing/2014/main" id="{254A2DD3-A79B-4A6E-8EDB-ADD52D9F8029}"/>
              </a:ext>
            </a:extLst>
          </p:cNvPr>
          <p:cNvSpPr>
            <a:spLocks xmlns:a="http://schemas.openxmlformats.org/drawingml/2006/main" noGrp="1"/>
          </p:cNvSpPr>
          <p:nvPr/>
        </p:nvSpPr>
        <p:spPr>
          <a:xfrm xmlns:a="http://schemas.openxmlformats.org/drawingml/2006/main">
            <a:off x="548640" y="868680"/>
            <a:ext cx="566928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90000"/>
              </a:lnSpc>
              <a:buNone/>
            </a:pPr>
            <a:r>
              <a:rPr sz="5400" b="1" spc="200">
                <a:solidFill>
                  <a:schemeClr val="bg1"/>
                </a:solidFill>
                <a:latin typeface="Cambria"/>
                <a:ea typeface="Cambria"/>
                <a:cs typeface="Cambria"/>
              </a:rPr>
              <a:t>GENESIS</a:t>
            </a:r>
            <a:endParaRPr sz="5400"/>
          </a:p>
          <a:p xmlns:a="http://schemas.openxmlformats.org/drawingml/2006/main">
            <a:pPr marL="0" indent="0">
              <a:lnSpc>
                <a:spcPct val="90000"/>
              </a:lnSpc>
              <a:buNone/>
            </a:pPr>
            <a:r>
              <a:rPr sz="5400" b="1" spc="200">
                <a:solidFill>
                  <a:schemeClr val="accent3"/>
                </a:solidFill>
                <a:latin typeface="Cambria"/>
                <a:ea typeface="Cambria"/>
                <a:cs typeface="Cambria"/>
              </a:rPr>
              <a:t>IDEATHON</a:t>
            </a:r>
            <a:endParaRPr sz="5400"/>
          </a:p>
        </p:txBody>
      </p:sp>
      <p:sp>
        <p:nvSpPr>
          <p:cNvPr id="13" name="Section Chip">
            <a:extLst xmlns:a="http://schemas.openxmlformats.org/drawingml/2006/main">
              <a:ext uri="{FF2B5EF4-FFF2-40B4-BE49-F238E27FC236}">
                <a16:creationId xmlns:a16="http://schemas.microsoft.com/office/drawing/2014/main" id="{E1E82A4A-E6C3-44A7-A2FE-9C55C596E20A}"/>
              </a:ext>
            </a:extLst>
          </p:cNvPr>
          <p:cNvSpPr>
            <a:spLocks xmlns:a="http://schemas.openxmlformats.org/drawingml/2006/main" noGrp="1"/>
          </p:cNvSpPr>
          <p:nvPr/>
        </p:nvSpPr>
        <p:spPr>
          <a:xfrm xmlns:a="http://schemas.openxmlformats.org/drawingml/2006/main">
            <a:off x="548640" y="2606040"/>
            <a:ext cx="2103120" cy="384048"/>
          </a:xfrm>
          <a:prstGeom xmlns:a="http://schemas.openxmlformats.org/drawingml/2006/main" prst="roundRect">
            <a:avLst>
              <a:gd name="adj" fmla="val 50000"/>
            </a:avLst>
          </a:prstGeom>
          <a:ln xmlns:a="http://schemas.openxmlformats.org/drawingml/2006/main" w="15875">
            <a:solidFill>
              <a:schemeClr val="accent3"/>
            </a:solidFill>
          </a:l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spc="300">
                <a:solidFill>
                  <a:schemeClr val="bg1"/>
                </a:solidFill>
              </a:rPr>
              <a:t>TEAM &amp; DOMAIN</a:t>
            </a:r>
            <a:endParaRPr sz="1300"/>
          </a:p>
        </p:txBody>
      </p:sp>
      <p:sp>
        <p:nvSpPr>
          <p:cNvPr id="14" name="Cover Lead">
            <a:extLst xmlns:a="http://schemas.openxmlformats.org/drawingml/2006/main">
              <a:ext uri="{FF2B5EF4-FFF2-40B4-BE49-F238E27FC236}">
                <a16:creationId xmlns:a16="http://schemas.microsoft.com/office/drawing/2014/main" id="{1C3AF0B3-CDBC-46D9-92AC-CF8224D8C200}"/>
              </a:ext>
            </a:extLst>
          </p:cNvPr>
          <p:cNvSpPr>
            <a:spLocks xmlns:a="http://schemas.openxmlformats.org/drawingml/2006/main" noGrp="1"/>
          </p:cNvSpPr>
          <p:nvPr/>
        </p:nvSpPr>
        <p:spPr>
          <a:xfrm xmlns:a="http://schemas.openxmlformats.org/drawingml/2006/main">
            <a:off x="548640" y="3108960"/>
            <a:ext cx="5669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i="1">
                <a:solidFill>
                  <a:schemeClr val="accent6"/>
                </a:solidFill>
              </a:rPr>
              <a:t>Introduce your team and the domain you have chosen</a:t>
            </a:r>
            <a:endParaRPr sz="1600"/>
          </a:p>
        </p:txBody>
      </p:sp>
      <p:sp>
        <p:nvSpPr>
          <p:cNvPr id="15" name="Cover Fields">
            <a:extLst xmlns:a="http://schemas.openxmlformats.org/drawingml/2006/main">
              <a:ext uri="{FF2B5EF4-FFF2-40B4-BE49-F238E27FC236}">
                <a16:creationId xmlns:a16="http://schemas.microsoft.com/office/drawing/2014/main" id="{A31D3D23-9572-46E9-AAD7-C7792BD623DA}"/>
              </a:ext>
            </a:extLst>
          </p:cNvPr>
          <p:cNvSpPr>
            <a:spLocks xmlns:a="http://schemas.openxmlformats.org/drawingml/2006/main" noGrp="1"/>
          </p:cNvSpPr>
          <p:nvPr/>
        </p:nvSpPr>
        <p:spPr>
          <a:xfrm xmlns:a="http://schemas.openxmlformats.org/drawingml/2006/main">
            <a:off x="548640" y="3703320"/>
            <a:ext cx="60350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79400" indent="-279400">
              <a:spcAft>
                <a:spcPts val="400"/>
              </a:spcAft>
              <a:buClr>
                <a:schemeClr val="accent3"/>
              </a:buClr>
              <a:buSzPct val="100000"/>
              <a:buChar char="•"/>
            </a:pPr>
            <a:r>
              <a:rPr sz="1600">
                <a:solidFill>
                  <a:schemeClr val="bg1"/>
                </a:solidFill>
              </a:rPr>
              <a:t>Team Name – Anthara</a:t>
            </a:r>
            <a:endParaRPr sz="1600"/>
          </a:p>
          <a:p xmlns:a="http://schemas.openxmlformats.org/drawingml/2006/main">
            <a:pPr marL="279400" indent="-279400">
              <a:spcAft>
                <a:spcPts val="400"/>
              </a:spcAft>
              <a:buClr>
                <a:schemeClr val="accent3"/>
              </a:buClr>
              <a:buSzPct val="100000"/>
              <a:buChar char="•"/>
            </a:pPr>
            <a:r>
              <a:rPr sz="1600">
                <a:solidFill>
                  <a:schemeClr val="bg1"/>
                </a:solidFill>
              </a:rPr>
              <a:t>Team Members –</a:t>
            </a:r>
            <a:br>
              <a:rPr sz="1600">
                <a:solidFill>
                  <a:schemeClr val="bg1"/>
                </a:solidFill>
              </a:rPr>
            </a:br>
            <a:r>
              <a:rPr sz="1600">
                <a:solidFill>
                  <a:schemeClr val="bg1"/>
                </a:solidFill>
              </a:rPr>
              <a:t>Vinayak S : CB.SC.U4CSE26563</a:t>
            </a:r>
            <a:br>
              <a:rPr sz="1600">
                <a:solidFill>
                  <a:schemeClr val="bg1"/>
                </a:solidFill>
              </a:rPr>
            </a:br>
            <a:r>
              <a:rPr sz="1600">
                <a:solidFill>
                  <a:schemeClr val="bg1"/>
                </a:solidFill>
              </a:rPr>
              <a:t>Viswanath Maharam AG : CB.SC.U4CSE26166</a:t>
            </a:r>
            <a:br>
              <a:rPr sz="1600">
                <a:solidFill>
                  <a:schemeClr val="bg1"/>
                </a:solidFill>
              </a:rPr>
            </a:br>
            <a:r>
              <a:rPr sz="1600">
                <a:solidFill>
                  <a:schemeClr val="bg1"/>
                </a:solidFill>
              </a:rPr>
              <a:t>Kaevin P : CB.SC.U4CSE26218</a:t>
            </a:r>
            <a:br>
              <a:rPr sz="1600">
                <a:solidFill>
                  <a:schemeClr val="bg1"/>
                </a:solidFill>
              </a:rPr>
            </a:br>
            <a:r>
              <a:rPr sz="1600">
                <a:solidFill>
                  <a:schemeClr val="bg1"/>
                </a:solidFill>
              </a:rPr>
              <a:t>Maheema K : CB.SC.U4CYS26124</a:t>
            </a:r>
            <a:endParaRPr sz="1600"/>
          </a:p>
          <a:p xmlns:a="http://schemas.openxmlformats.org/drawingml/2006/main">
            <a:pPr marL="279400" indent="-279400">
              <a:spcAft>
                <a:spcPts val="400"/>
              </a:spcAft>
              <a:buClr>
                <a:schemeClr val="accent3"/>
              </a:buClr>
              <a:buSzPct val="100000"/>
              <a:buChar char="•"/>
            </a:pPr>
            <a:r>
              <a:rPr sz="1600">
                <a:solidFill>
                  <a:schemeClr val="bg1"/>
                </a:solidFill>
              </a:rPr>
              <a:t>Selected Domain – 6. Healthcare, Biotechnology &amp; Human Well-being</a:t>
            </a:r>
            <a:endParaRPr sz="1600"/>
          </a:p>
          <a:p xmlns:a="http://schemas.openxmlformats.org/drawingml/2006/main">
            <a:pPr marL="279400" indent="-279400">
              <a:spcAft>
                <a:spcPts val="400"/>
              </a:spcAft>
              <a:buClr>
                <a:schemeClr val="accent3"/>
              </a:buClr>
              <a:buSzPct val="100000"/>
              <a:buChar char="•"/>
            </a:pPr>
            <a:r>
              <a:rPr sz="1600">
                <a:solidFill>
                  <a:schemeClr val="bg1"/>
                </a:solidFill>
              </a:rPr>
              <a:t>Problem Statement – </a:t>
            </a:r>
            <a:r>
              <a:rPr sz="1600">
                <a:solidFill>
                  <a:schemeClr val="bg1"/>
                </a:solidFill>
              </a:rPr>
              <a:t>Helping Families Reach Planned Care on Time</a:t>
            </a:r>
            <a:endParaRPr sz="1600"/>
          </a:p>
        </p:txBody>
      </p:sp>
    </p:spTree>
    <p:extLst>
      <p:ext uri="{BB962C8B-B14F-4D97-AF65-F5344CB8AC3E}">
        <p14:creationId xmlns:p14="http://schemas.microsoft.com/office/powerpoint/2010/main" val="60254102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7">
            <a:extLst xmlns:a="http://schemas.openxmlformats.org/drawingml/2006/main">
              <a:ext uri="{FF2B5EF4-FFF2-40B4-BE49-F238E27FC236}">
                <a16:creationId xmlns:a16="http://schemas.microsoft.com/office/drawing/2014/main" id="{10F09303-AECD-4C44-A5E6-855F361B6611}"/>
              </a:ext>
            </a:extLst>
          </p:cNvPr>
          <p:cNvSpPr>
            <a:spLocks xmlns:a="http://schemas.openxmlformats.org/drawingml/2006/main" noGrp="1"/>
          </p:cNvSpPr>
          <p:nvPr>
            <p:ph type="title" idx="108" hasCustomPrompt="1"/>
          </p:nvPr>
        </p:nvSpPr>
        <p:spPr>
          <a:xfrm xmlns:a="http://schemas.openxmlformats.org/drawingml/2006/main">
            <a:off x="3246120" y="320040"/>
            <a:ext cx="74980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spc="100">
                <a:solidFill>
                  <a:schemeClr val="tx2"/>
                </a:solidFill>
                <a:latin typeface="Cambria"/>
                <a:ea typeface="Cambria"/>
                <a:cs typeface="Cambria"/>
              </a:rPr>
              <a:t>DOMAIN PROBLEM IN OUR WORDS</a:t>
            </a:r>
            <a:endParaRPr sz="2400"/>
          </a:p>
        </p:txBody>
      </p:sp>
      <p:sp>
        <p:nvSpPr>
          <p:cNvPr id="3" name="Team Badge">
            <a:extLst xmlns:a="http://schemas.openxmlformats.org/drawingml/2006/main">
              <a:ext uri="{FF2B5EF4-FFF2-40B4-BE49-F238E27FC236}">
                <a16:creationId xmlns:a16="http://schemas.microsoft.com/office/drawing/2014/main" id="{24F626F1-8C6B-4133-817E-09EAD1F3B5C6}"/>
              </a:ext>
            </a:extLst>
          </p:cNvPr>
          <p:cNvSpPr>
            <a:spLocks xmlns:a="http://schemas.openxmlformats.org/drawingml/2006/main" noGrp="1"/>
          </p:cNvSpPr>
          <p:nvPr/>
        </p:nvSpPr>
        <p:spPr>
          <a:xfrm xmlns:a="http://schemas.openxmlformats.org/drawingml/2006/main">
            <a:off x="457200" y="320040"/>
            <a:ext cx="2606040" cy="822960"/>
          </a:xfrm>
          <a:prstGeom xmlns:a="http://schemas.openxmlformats.org/drawingml/2006/main" prst="roundRect">
            <a:avLst>
              <a:gd name="adj" fmla="val 13333"/>
            </a:avLst>
          </a:prstGeom>
          <a:solidFill xmlns:a="http://schemas.openxmlformats.org/drawingml/2006/main">
            <a:schemeClr val="bg1"/>
          </a:solidFill>
          <a:ln xmlns:a="http://schemas.openxmlformats.org/drawingml/2006/main" w="9525">
            <a:solidFill>
              <a:schemeClr val="accent6"/>
            </a:solidFill>
            <a:prstDash val="solid"/>
          </a:ln>
        </p:spPr>
      </p:sp>
      <p:sp>
        <p:nvSpPr>
          <p:cNvPr id="4" name="Team Icon Hex">
            <a:extLst xmlns:a="http://schemas.openxmlformats.org/drawingml/2006/main">
              <a:ext uri="{FF2B5EF4-FFF2-40B4-BE49-F238E27FC236}">
                <a16:creationId xmlns:a16="http://schemas.microsoft.com/office/drawing/2014/main" id="{BB874A7A-B8EC-4208-AE0F-347F08DF1666}"/>
              </a:ext>
            </a:extLst>
          </p:cNvPr>
          <p:cNvSpPr>
            <a:spLocks xmlns:a="http://schemas.openxmlformats.org/drawingml/2006/main" noGrp="1"/>
          </p:cNvSpPr>
          <p:nvPr/>
        </p:nvSpPr>
        <p:spPr>
          <a:xfrm xmlns:a="http://schemas.openxmlformats.org/drawingml/2006/main">
            <a:off x="603504" y="457200"/>
            <a:ext cx="630936" cy="548640"/>
          </a:xfrm>
          <a:prstGeom xmlns:a="http://schemas.openxmlformats.org/drawingml/2006/main" prst="hexagon">
            <a:avLst/>
          </a:prstGeom>
          <a:solidFill xmlns:a="http://schemas.openxmlformats.org/drawingml/2006/main">
            <a:schemeClr val="bg2"/>
          </a:solidFill>
          <a:ln xmlns:a="http://schemas.openxmlformats.org/drawingml/2006/main" w="9525">
            <a:solidFill>
              <a:schemeClr val="accent6"/>
            </a:solidFill>
            <a:prstDash val="solid"/>
          </a:ln>
        </p:spPr>
      </p:sp>
      <p:pic>
        <p:nvPicPr>
          <p:cNvPr id="5" name="Team Icon">
            <a:extLst xmlns:a="http://schemas.openxmlformats.org/drawingml/2006/main">
              <a:ext uri="{FF2B5EF4-FFF2-40B4-BE49-F238E27FC236}">
                <a16:creationId xmlns:a16="http://schemas.microsoft.com/office/drawing/2014/main" id="{43303032-1FAE-4F2A-A9CB-8719598ED2D9}"/>
              </a:ext>
            </a:extLst>
          </p:cNvPr>
          <p:cNvPicPr>
            <a:picLocks xmlns:a="http://schemas.openxmlformats.org/drawingml/2006/main" noChangeAspect="1"/>
          </p:cNvPicPr>
          <p:nvPr/>
        </p:nvPicPr>
        <p:blipFill>
          <a:blip xmlns:r="http://schemas.openxmlformats.org/officeDocument/2006/relationships" xmlns:a="http://schemas.openxmlformats.org/drawingml/2006/main" r:embed="R86279d2098ef42bc"/>
          <a:stretch xmlns:a="http://schemas.openxmlformats.org/drawingml/2006/main">
            <a:fillRect l="0" t="0" r="0" b="0"/>
          </a:stretch>
        </p:blipFill>
        <p:spPr>
          <a:xfrm xmlns:a="http://schemas.openxmlformats.org/drawingml/2006/main">
            <a:off x="736092" y="548640"/>
            <a:ext cx="365760" cy="365760"/>
          </a:xfrm>
          <a:prstGeom xmlns:a="http://schemas.openxmlformats.org/drawingml/2006/main" prst="rect">
            <a:avLst/>
          </a:prstGeom>
        </p:spPr>
      </p:pic>
      <p:sp>
        <p:nvSpPr>
          <p:cNvPr id="6" name="Team Name">
            <a:extLst xmlns:a="http://schemas.openxmlformats.org/drawingml/2006/main">
              <a:ext uri="{FF2B5EF4-FFF2-40B4-BE49-F238E27FC236}">
                <a16:creationId xmlns:a16="http://schemas.microsoft.com/office/drawing/2014/main" id="{3DF6C6F1-8524-48E9-8B12-352E1B43C7AF}"/>
              </a:ext>
            </a:extLst>
          </p:cNvPr>
          <p:cNvSpPr>
            <a:spLocks xmlns:a="http://schemas.openxmlformats.org/drawingml/2006/main" noGrp="1"/>
          </p:cNvSpPr>
          <p:nvPr/>
        </p:nvSpPr>
        <p:spPr>
          <a:xfrm xmlns:a="http://schemas.openxmlformats.org/drawingml/2006/main">
            <a:off x="1371600" y="384048"/>
            <a:ext cx="162763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spc="300">
                <a:solidFill>
                  <a:schemeClr val="accent5"/>
                </a:solidFill>
              </a:rPr>
              <a:t>TEAM</a:t>
            </a:r>
            <a:endParaRPr sz="900"/>
          </a:p>
          <a:p xmlns:a="http://schemas.openxmlformats.org/drawingml/2006/main">
            <a:pPr marL="0" indent="0">
              <a:buNone/>
            </a:pPr>
            <a:r>
              <a:rPr sz="1500" b="1">
                <a:solidFill>
                  <a:schemeClr val="accent1"/>
                </a:solidFill>
              </a:rPr>
              <a:t>Anthara</a:t>
            </a:r>
            <a:endParaRPr sz="900"/>
          </a:p>
        </p:txBody>
      </p:sp>
      <p:sp>
        <p:nvSpPr>
          <p:cNvPr id="7" name="Lead Icon Hex">
            <a:extLst xmlns:a="http://schemas.openxmlformats.org/drawingml/2006/main">
              <a:ext uri="{FF2B5EF4-FFF2-40B4-BE49-F238E27FC236}">
                <a16:creationId xmlns:a16="http://schemas.microsoft.com/office/drawing/2014/main" id="{24DADE63-3B23-4E5D-9A2E-409DD9D49FE3}"/>
              </a:ext>
            </a:extLst>
          </p:cNvPr>
          <p:cNvSpPr>
            <a:spLocks xmlns:a="http://schemas.openxmlformats.org/drawingml/2006/main" noGrp="1"/>
          </p:cNvSpPr>
          <p:nvPr/>
        </p:nvSpPr>
        <p:spPr>
          <a:xfrm xmlns:a="http://schemas.openxmlformats.org/drawingml/2006/main">
            <a:off x="548640" y="1463040"/>
            <a:ext cx="457200" cy="395935"/>
          </a:xfrm>
          <a:prstGeom xmlns:a="http://schemas.openxmlformats.org/drawingml/2006/main" prst="hexagon">
            <a:avLst/>
          </a:prstGeom>
          <a:solidFill xmlns:a="http://schemas.openxmlformats.org/drawingml/2006/main">
            <a:schemeClr val="accent3"/>
          </a:solidFill>
        </p:spPr>
      </p:sp>
      <p:pic>
        <p:nvPicPr>
          <p:cNvPr id="8" name="Lead Icon">
            <a:extLst xmlns:a="http://schemas.openxmlformats.org/drawingml/2006/main">
              <a:ext uri="{FF2B5EF4-FFF2-40B4-BE49-F238E27FC236}">
                <a16:creationId xmlns:a16="http://schemas.microsoft.com/office/drawing/2014/main" id="{76577FDA-A1C0-49D3-9E6F-BDB245FDF9CC}"/>
              </a:ext>
            </a:extLst>
          </p:cNvPr>
          <p:cNvPicPr>
            <a:picLocks xmlns:a="http://schemas.openxmlformats.org/drawingml/2006/main" noChangeAspect="1"/>
          </p:cNvPicPr>
          <p:nvPr/>
        </p:nvPicPr>
        <p:blipFill>
          <a:blip xmlns:r="http://schemas.openxmlformats.org/officeDocument/2006/relationships" xmlns:a="http://schemas.openxmlformats.org/drawingml/2006/main" r:embed="R39b67d7564b545bd"/>
          <a:stretch xmlns:a="http://schemas.openxmlformats.org/drawingml/2006/main">
            <a:fillRect l="0" t="0" r="0" b="0"/>
          </a:stretch>
        </p:blipFill>
        <p:spPr>
          <a:xfrm xmlns:a="http://schemas.openxmlformats.org/drawingml/2006/main">
            <a:off x="640080" y="1523390"/>
            <a:ext cx="274320" cy="274320"/>
          </a:xfrm>
          <a:prstGeom xmlns:a="http://schemas.openxmlformats.org/drawingml/2006/main" prst="rect">
            <a:avLst/>
          </a:prstGeom>
        </p:spPr>
      </p:pic>
      <p:sp>
        <p:nvSpPr>
          <p:cNvPr id="9" name="Lead Text">
            <a:extLst xmlns:a="http://schemas.openxmlformats.org/drawingml/2006/main">
              <a:ext uri="{FF2B5EF4-FFF2-40B4-BE49-F238E27FC236}">
                <a16:creationId xmlns:a16="http://schemas.microsoft.com/office/drawing/2014/main" id="{A41D7B6B-081B-4437-A8CD-5DCDBEE94104}"/>
              </a:ext>
            </a:extLst>
          </p:cNvPr>
          <p:cNvSpPr>
            <a:spLocks xmlns:a="http://schemas.openxmlformats.org/drawingml/2006/main" noGrp="1"/>
          </p:cNvSpPr>
          <p:nvPr/>
        </p:nvSpPr>
        <p:spPr>
          <a:xfrm xmlns:a="http://schemas.openxmlformats.org/drawingml/2006/main">
            <a:off x="1170432" y="1417320"/>
            <a:ext cx="9601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chemeClr val="accent2"/>
                </a:solidFill>
              </a:rPr>
              <a:t>Helping Families Reach Planned Care on Time</a:t>
            </a:r>
            <a:endParaRPr sz="1800"/>
          </a:p>
        </p:txBody>
      </p:sp>
      <p:sp>
        <p:nvSpPr>
          <p:cNvPr id="10" name="Prompts">
            <a:extLst xmlns:a="http://schemas.openxmlformats.org/drawingml/2006/main">
              <a:ext uri="{FF2B5EF4-FFF2-40B4-BE49-F238E27FC236}">
                <a16:creationId xmlns:a16="http://schemas.microsoft.com/office/drawing/2014/main" id="{8CDF00C6-35A3-41CB-8AD8-8059D6E44B73}"/>
              </a:ext>
            </a:extLst>
          </p:cNvPr>
          <p:cNvSpPr>
            <a:spLocks xmlns:a="http://schemas.openxmlformats.org/drawingml/2006/main" noGrp="1"/>
          </p:cNvSpPr>
          <p:nvPr/>
        </p:nvSpPr>
        <p:spPr>
          <a:xfrm xmlns:a="http://schemas.openxmlformats.org/drawingml/2006/main">
            <a:off x="868680" y="2148840"/>
            <a:ext cx="10424160" cy="404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279400" indent="-279400">
              <a:spcAft>
                <a:spcPts val="1000"/>
              </a:spcAft>
              <a:buClr>
                <a:schemeClr val="accent1"/>
              </a:buClr>
              <a:buSzPct val="100000"/>
              <a:buChar char="•"/>
            </a:pPr>
            <a:r>
              <a:rPr sz="1800" b="1">
                <a:solidFill>
                  <a:schemeClr val="tx1"/>
                </a:solidFill>
              </a:rPr>
              <a:t>Problem statement: </a:t>
            </a:r>
            <a:r>
              <a:rPr sz="1800" b="0">
                <a:solidFill>
                  <a:schemeClr val="tx1"/>
                </a:solidFill>
              </a:rPr>
              <a:t>How might we help patients and caregivers complete clinician-recommended, non-emergency hospital visits on time, with fewer avoidable journeys and unexpected expenses?</a:t>
            </a:r>
            <a:endParaRPr sz="1800"/>
          </a:p>
          <a:p xmlns:a="http://schemas.openxmlformats.org/drawingml/2006/main">
            <a:pPr marL="279400" indent="-279400">
              <a:spcAft>
                <a:spcPts val="1000"/>
              </a:spcAft>
              <a:buClr>
                <a:schemeClr val="accent1"/>
              </a:buClr>
              <a:buSzPct val="100000"/>
              <a:buChar char="•"/>
            </a:pPr>
            <a:r>
              <a:rPr sz="1800" b="1">
                <a:solidFill>
                  <a:schemeClr val="tx1"/>
                </a:solidFill>
              </a:rPr>
              <a:t>What exactly needs to be solved? </a:t>
            </a:r>
            <a:r>
              <a:rPr sz="1800" b="0">
                <a:solidFill>
                  <a:schemeClr val="tx1"/>
                </a:solidFill>
              </a:rPr>
              <a:t>Families may discover unavailable services, missing documents or unaffordable expenses only after travelling. We need to understand which preventable barriers keep a recommended visit from happening on time.</a:t>
            </a:r>
            <a:endParaRPr sz="1800"/>
          </a:p>
          <a:p xmlns:a="http://schemas.openxmlformats.org/drawingml/2006/main">
            <a:pPr marL="279400" indent="-279400">
              <a:spcAft>
                <a:spcPts val="1000"/>
              </a:spcAft>
              <a:buClr>
                <a:schemeClr val="accent1"/>
              </a:buClr>
              <a:buSzPct val="100000"/>
              <a:buChar char="•"/>
            </a:pPr>
            <a:r>
              <a:rPr sz="1800" b="1">
                <a:solidFill>
                  <a:schemeClr val="tx1"/>
                </a:solidFill>
              </a:rPr>
              <a:t>Why is it important right now? </a:t>
            </a:r>
            <a:r>
              <a:rPr sz="1800" b="0">
                <a:solidFill>
                  <a:schemeClr val="tx1"/>
                </a:solidFill>
              </a:rPr>
              <a:t>Families may delay treatment or face bills they cannot manage. WHO and the World Bank estimate that 2.1 billion people experienced financial hardship from out-of-pocket health spending in 2022, showing the scale of the wider cost burden.</a:t>
            </a:r>
            <a:endParaRPr sz="1800"/>
          </a:p>
          <a:p xmlns:a="http://schemas.openxmlformats.org/drawingml/2006/main">
            <a:pPr marL="279400" indent="-279400">
              <a:spcAft>
                <a:spcPts val="1000"/>
              </a:spcAft>
              <a:buClr>
                <a:schemeClr val="accent1"/>
              </a:buClr>
              <a:buSzPct val="100000"/>
              <a:buChar char="•"/>
            </a:pPr>
            <a:r>
              <a:rPr sz="1800" b="1">
                <a:solidFill>
                  <a:schemeClr val="tx1"/>
                </a:solidFill>
              </a:rPr>
              <a:t>Our focus: </a:t>
            </a:r>
            <a:r>
              <a:rPr sz="1800" b="0">
                <a:solidFill>
                  <a:schemeClr val="tx1"/>
                </a:solidFill>
              </a:rPr>
              <a:t>Start with one willing clinic and one planned referral type. Help families prepare and help staff resolve missing steps before travel. Clinicians set the required service and timeframe.</a:t>
            </a:r>
            <a:endParaRPr sz="1800"/>
          </a:p>
        </p:txBody>
      </p:sp>
      <p:sp>
        <p:nvSpPr>
          <p:cNvPr id="25" name="Slide Number Placeholder 0">
            <a:extLst xmlns:a="http://schemas.openxmlformats.org/drawingml/2006/main">
              <a:ext uri="{FF2B5EF4-FFF2-40B4-BE49-F238E27FC236}">
                <a16:creationId xmlns:a16="http://schemas.microsoft.com/office/drawing/2014/main" id="{3E87AC64-A295-4348-9C9A-322D2E5043CB}"/>
              </a:ext>
            </a:extLst>
          </p:cNvPr>
          <p:cNvSpPr>
            <a:spLocks xmlns:a="http://schemas.openxmlformats.org/drawingml/2006/main" noGrp="1"/>
          </p:cNvSpPr>
          <p:nvPr>
            <p:ph type="sldNum" idx="4294967295"/>
          </p:nvPr>
        </p:nvSpPr>
        <p:spPr>
          <a:xfrm xmlns:a="http://schemas.openxmlformats.org/drawingml/2006/main">
            <a:off x="11259007" y="6409944"/>
            <a:ext cx="457200" cy="395935"/>
          </a:xfrm>
          <a:prstGeom xmlns:a="http://schemas.openxmlformats.org/drawingml/2006/main" prst="rect">
            <a:avLst/>
          </a:prstGeom>
        </p:spPr>
        <p:txBody>
          <a:bodyPr xmlns:a="http://schemas.openxmlformats.org/drawingml/2006/main" lIns="0" tIns="0" rIns="0" bIns="0" anchor="ctr"/>
          <a:lstStyle xmlns:a="http://schemas.openxmlformats.org/drawingml/2006/main">
            <a:lvl1pPr>
              <a:buNone/>
              <a:defRPr sz="1100">
                <a:solidFill>
                  <a:schemeClr val="tx2"/>
                </a:solidFill>
                <a:latin typeface="Calibri"/>
                <a:ea typeface="Calibri"/>
                <a:cs typeface="Calibri"/>
              </a:defRPr>
            </a:lvl1pPr>
          </a:lstStyle>
          <a:p xmlns:a="http://schemas.openxmlformats.org/drawingml/2006/main">
            <a:pPr algn="ctr">
              <a:buNone/>
            </a:pPr>
            <a:fld id="{F7021451-1387-4CA6-816F-3879F97B5CBC}" type="slidenum">
              <a:rPr b="1"/>
              <a:t>2</a:t>
            </a:fld>
            <a:endParaRPr/>
          </a:p>
        </p:txBody>
      </p:sp>
    </p:spTree>
    <p:extLst>
      <p:ext uri="{BB962C8B-B14F-4D97-AF65-F5344CB8AC3E}">
        <p14:creationId xmlns:p14="http://schemas.microsoft.com/office/powerpoint/2010/main" val="20364196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7">
            <a:extLst xmlns:a="http://schemas.openxmlformats.org/drawingml/2006/main">
              <a:ext uri="{FF2B5EF4-FFF2-40B4-BE49-F238E27FC236}">
                <a16:creationId xmlns:a16="http://schemas.microsoft.com/office/drawing/2014/main" id="{A79FCB72-8356-4898-B781-CC9B423F282D}"/>
              </a:ext>
            </a:extLst>
          </p:cNvPr>
          <p:cNvSpPr>
            <a:spLocks xmlns:a="http://schemas.openxmlformats.org/drawingml/2006/main" noGrp="1"/>
          </p:cNvSpPr>
          <p:nvPr>
            <p:ph type="title" idx="108" hasCustomPrompt="1"/>
          </p:nvPr>
        </p:nvSpPr>
        <p:spPr>
          <a:xfrm xmlns:a="http://schemas.openxmlformats.org/drawingml/2006/main">
            <a:off x="3246120" y="320040"/>
            <a:ext cx="74980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spc="100">
                <a:solidFill>
                  <a:schemeClr val="tx2"/>
                </a:solidFill>
                <a:latin typeface="Cambria"/>
                <a:ea typeface="Cambria"/>
                <a:cs typeface="Cambria"/>
              </a:rPr>
              <a:t>WHO IS AFFECTED?</a:t>
            </a:r>
            <a:endParaRPr sz="2400"/>
          </a:p>
        </p:txBody>
      </p:sp>
      <p:sp>
        <p:nvSpPr>
          <p:cNvPr id="3" name="Team Badge">
            <a:extLst xmlns:a="http://schemas.openxmlformats.org/drawingml/2006/main">
              <a:ext uri="{FF2B5EF4-FFF2-40B4-BE49-F238E27FC236}">
                <a16:creationId xmlns:a16="http://schemas.microsoft.com/office/drawing/2014/main" id="{382401E7-D5FD-43B4-85B6-5DBCBDC4C46F}"/>
              </a:ext>
            </a:extLst>
          </p:cNvPr>
          <p:cNvSpPr>
            <a:spLocks xmlns:a="http://schemas.openxmlformats.org/drawingml/2006/main" noGrp="1"/>
          </p:cNvSpPr>
          <p:nvPr/>
        </p:nvSpPr>
        <p:spPr>
          <a:xfrm xmlns:a="http://schemas.openxmlformats.org/drawingml/2006/main">
            <a:off x="457200" y="320040"/>
            <a:ext cx="2606040" cy="822960"/>
          </a:xfrm>
          <a:prstGeom xmlns:a="http://schemas.openxmlformats.org/drawingml/2006/main" prst="roundRect">
            <a:avLst>
              <a:gd name="adj" fmla="val 13333"/>
            </a:avLst>
          </a:prstGeom>
          <a:solidFill xmlns:a="http://schemas.openxmlformats.org/drawingml/2006/main">
            <a:schemeClr val="bg1"/>
          </a:solidFill>
          <a:ln xmlns:a="http://schemas.openxmlformats.org/drawingml/2006/main" w="9525">
            <a:solidFill>
              <a:schemeClr val="accent6"/>
            </a:solidFill>
            <a:prstDash val="solid"/>
          </a:ln>
        </p:spPr>
      </p:sp>
      <p:sp>
        <p:nvSpPr>
          <p:cNvPr id="4" name="Team Icon Hex">
            <a:extLst xmlns:a="http://schemas.openxmlformats.org/drawingml/2006/main">
              <a:ext uri="{FF2B5EF4-FFF2-40B4-BE49-F238E27FC236}">
                <a16:creationId xmlns:a16="http://schemas.microsoft.com/office/drawing/2014/main" id="{13D9DE2C-F5E8-4CFC-82C9-7C476E4C399C}"/>
              </a:ext>
            </a:extLst>
          </p:cNvPr>
          <p:cNvSpPr>
            <a:spLocks xmlns:a="http://schemas.openxmlformats.org/drawingml/2006/main" noGrp="1"/>
          </p:cNvSpPr>
          <p:nvPr/>
        </p:nvSpPr>
        <p:spPr>
          <a:xfrm xmlns:a="http://schemas.openxmlformats.org/drawingml/2006/main">
            <a:off x="603504" y="457200"/>
            <a:ext cx="630936" cy="548640"/>
          </a:xfrm>
          <a:prstGeom xmlns:a="http://schemas.openxmlformats.org/drawingml/2006/main" prst="hexagon">
            <a:avLst/>
          </a:prstGeom>
          <a:solidFill xmlns:a="http://schemas.openxmlformats.org/drawingml/2006/main">
            <a:schemeClr val="bg2"/>
          </a:solidFill>
          <a:ln xmlns:a="http://schemas.openxmlformats.org/drawingml/2006/main" w="9525">
            <a:solidFill>
              <a:schemeClr val="accent6"/>
            </a:solidFill>
            <a:prstDash val="solid"/>
          </a:ln>
        </p:spPr>
      </p:sp>
      <p:pic>
        <p:nvPicPr>
          <p:cNvPr id="5" name="Team Icon">
            <a:extLst xmlns:a="http://schemas.openxmlformats.org/drawingml/2006/main">
              <a:ext uri="{FF2B5EF4-FFF2-40B4-BE49-F238E27FC236}">
                <a16:creationId xmlns:a16="http://schemas.microsoft.com/office/drawing/2014/main" id="{9631CD81-797B-49A9-A375-7E75D0290189}"/>
              </a:ext>
            </a:extLst>
          </p:cNvPr>
          <p:cNvPicPr>
            <a:picLocks xmlns:a="http://schemas.openxmlformats.org/drawingml/2006/main" noChangeAspect="1"/>
          </p:cNvPicPr>
          <p:nvPr/>
        </p:nvPicPr>
        <p:blipFill>
          <a:blip xmlns:r="http://schemas.openxmlformats.org/officeDocument/2006/relationships" xmlns:a="http://schemas.openxmlformats.org/drawingml/2006/main" r:embed="R2689bcb0167c453a"/>
          <a:stretch xmlns:a="http://schemas.openxmlformats.org/drawingml/2006/main">
            <a:fillRect l="0" t="0" r="0" b="0"/>
          </a:stretch>
        </p:blipFill>
        <p:spPr>
          <a:xfrm xmlns:a="http://schemas.openxmlformats.org/drawingml/2006/main">
            <a:off x="736092" y="548640"/>
            <a:ext cx="365760" cy="365760"/>
          </a:xfrm>
          <a:prstGeom xmlns:a="http://schemas.openxmlformats.org/drawingml/2006/main" prst="rect">
            <a:avLst/>
          </a:prstGeom>
        </p:spPr>
      </p:pic>
      <p:sp>
        <p:nvSpPr>
          <p:cNvPr id="6" name="Team Name">
            <a:extLst xmlns:a="http://schemas.openxmlformats.org/drawingml/2006/main">
              <a:ext uri="{FF2B5EF4-FFF2-40B4-BE49-F238E27FC236}">
                <a16:creationId xmlns:a16="http://schemas.microsoft.com/office/drawing/2014/main" id="{842ACEDB-6233-4283-AB71-0049BD0E131E}"/>
              </a:ext>
            </a:extLst>
          </p:cNvPr>
          <p:cNvSpPr>
            <a:spLocks xmlns:a="http://schemas.openxmlformats.org/drawingml/2006/main" noGrp="1"/>
          </p:cNvSpPr>
          <p:nvPr/>
        </p:nvSpPr>
        <p:spPr>
          <a:xfrm xmlns:a="http://schemas.openxmlformats.org/drawingml/2006/main">
            <a:off x="1371600" y="384048"/>
            <a:ext cx="162763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spc="300">
                <a:solidFill>
                  <a:schemeClr val="accent5"/>
                </a:solidFill>
              </a:rPr>
              <a:t>TEAM</a:t>
            </a:r>
            <a:endParaRPr sz="900"/>
          </a:p>
          <a:p xmlns:a="http://schemas.openxmlformats.org/drawingml/2006/main">
            <a:pPr marL="0" indent="0">
              <a:buNone/>
            </a:pPr>
            <a:r>
              <a:rPr sz="1500" b="1">
                <a:solidFill>
                  <a:schemeClr val="accent1"/>
                </a:solidFill>
              </a:rPr>
              <a:t>Anthara</a:t>
            </a:r>
            <a:endParaRPr sz="900"/>
          </a:p>
        </p:txBody>
      </p:sp>
      <p:sp>
        <p:nvSpPr>
          <p:cNvPr id="7" name="Lead Icon Hex">
            <a:extLst xmlns:a="http://schemas.openxmlformats.org/drawingml/2006/main">
              <a:ext uri="{FF2B5EF4-FFF2-40B4-BE49-F238E27FC236}">
                <a16:creationId xmlns:a16="http://schemas.microsoft.com/office/drawing/2014/main" id="{B50E282E-EC0A-4875-A000-0F3E304C1B59}"/>
              </a:ext>
            </a:extLst>
          </p:cNvPr>
          <p:cNvSpPr>
            <a:spLocks xmlns:a="http://schemas.openxmlformats.org/drawingml/2006/main" noGrp="1"/>
          </p:cNvSpPr>
          <p:nvPr/>
        </p:nvSpPr>
        <p:spPr>
          <a:xfrm xmlns:a="http://schemas.openxmlformats.org/drawingml/2006/main">
            <a:off x="548640" y="1463040"/>
            <a:ext cx="457200" cy="395935"/>
          </a:xfrm>
          <a:prstGeom xmlns:a="http://schemas.openxmlformats.org/drawingml/2006/main" prst="hexagon">
            <a:avLst/>
          </a:prstGeom>
          <a:solidFill xmlns:a="http://schemas.openxmlformats.org/drawingml/2006/main">
            <a:schemeClr val="accent3"/>
          </a:solidFill>
        </p:spPr>
      </p:sp>
      <p:pic>
        <p:nvPicPr>
          <p:cNvPr id="8" name="Lead Icon">
            <a:extLst xmlns:a="http://schemas.openxmlformats.org/drawingml/2006/main">
              <a:ext uri="{FF2B5EF4-FFF2-40B4-BE49-F238E27FC236}">
                <a16:creationId xmlns:a16="http://schemas.microsoft.com/office/drawing/2014/main" id="{AF9CF338-9964-4E50-AEEC-806709625CED}"/>
              </a:ext>
            </a:extLst>
          </p:cNvPr>
          <p:cNvPicPr>
            <a:picLocks xmlns:a="http://schemas.openxmlformats.org/drawingml/2006/main" noChangeAspect="1"/>
          </p:cNvPicPr>
          <p:nvPr/>
        </p:nvPicPr>
        <p:blipFill>
          <a:blip xmlns:r="http://schemas.openxmlformats.org/officeDocument/2006/relationships" xmlns:a="http://schemas.openxmlformats.org/drawingml/2006/main" r:embed="R7dc61fbf5fbd4289"/>
          <a:stretch xmlns:a="http://schemas.openxmlformats.org/drawingml/2006/main">
            <a:fillRect l="0" t="0" r="0" b="0"/>
          </a:stretch>
        </p:blipFill>
        <p:spPr>
          <a:xfrm xmlns:a="http://schemas.openxmlformats.org/drawingml/2006/main">
            <a:off x="640080" y="1523390"/>
            <a:ext cx="274320" cy="274320"/>
          </a:xfrm>
          <a:prstGeom xmlns:a="http://schemas.openxmlformats.org/drawingml/2006/main" prst="rect">
            <a:avLst/>
          </a:prstGeom>
        </p:spPr>
      </p:pic>
      <p:sp>
        <p:nvSpPr>
          <p:cNvPr id="9" name="Lead Text">
            <a:extLst xmlns:a="http://schemas.openxmlformats.org/drawingml/2006/main">
              <a:ext uri="{FF2B5EF4-FFF2-40B4-BE49-F238E27FC236}">
                <a16:creationId xmlns:a16="http://schemas.microsoft.com/office/drawing/2014/main" id="{5DFACC37-70E7-4F35-98CB-F245AEC1B44A}"/>
              </a:ext>
            </a:extLst>
          </p:cNvPr>
          <p:cNvSpPr>
            <a:spLocks xmlns:a="http://schemas.openxmlformats.org/drawingml/2006/main" noGrp="1"/>
          </p:cNvSpPr>
          <p:nvPr/>
        </p:nvSpPr>
        <p:spPr>
          <a:xfrm xmlns:a="http://schemas.openxmlformats.org/drawingml/2006/main">
            <a:off x="1170432" y="1417320"/>
            <a:ext cx="9601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800" b="1">
                <a:solidFill>
                  <a:srgbClr val="094542"/>
                </a:solidFill>
                <a:latin typeface="Calibri"/>
                <a:ea typeface="Calibri"/>
                <a:cs typeface="Calibri"/>
              </a:defRPr>
            </a:defPPr>
          </a:lstStyle>
          <a:p xmlns:a="http://schemas.openxmlformats.org/drawingml/2006/main">
            <a:pPr marL="0" indent="0">
              <a:buNone/>
              <a:defRPr sz="1800" b="1">
                <a:solidFill>
                  <a:srgbClr val="094542"/>
                </a:solidFill>
                <a:latin typeface="Calibri"/>
                <a:ea typeface="Calibri"/>
                <a:cs typeface="Calibri"/>
              </a:defRPr>
            </a:pPr>
            <a:r>
              <a:rPr sz="1800" b="1">
                <a:solidFill>
                  <a:srgbClr val="094542"/>
                </a:solidFill>
                <a:latin typeface="Calibri"/>
                <a:ea typeface="Calibri"/>
                <a:cs typeface="Calibri"/>
              </a:rPr>
              <a:t>Target users, stakeholders and beneficiaries</a:t>
            </a:r>
            <a:endParaRPr sz="1800"/>
          </a:p>
        </p:txBody>
      </p:sp>
      <p:sp>
        <p:nvSpPr>
          <p:cNvPr id="10" name="Prompts">
            <a:extLst xmlns:a="http://schemas.openxmlformats.org/drawingml/2006/main">
              <a:ext uri="{FF2B5EF4-FFF2-40B4-BE49-F238E27FC236}">
                <a16:creationId xmlns:a16="http://schemas.microsoft.com/office/drawing/2014/main" id="{EC54198F-C38D-4461-8D6B-A1ADA08DBBD8}"/>
              </a:ext>
            </a:extLst>
          </p:cNvPr>
          <p:cNvSpPr>
            <a:spLocks xmlns:a="http://schemas.openxmlformats.org/drawingml/2006/main" noGrp="1"/>
          </p:cNvSpPr>
          <p:nvPr/>
        </p:nvSpPr>
        <p:spPr>
          <a:xfrm xmlns:a="http://schemas.openxmlformats.org/drawingml/2006/main">
            <a:off x="868680" y="2148840"/>
            <a:ext cx="1042416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800">
                <a:solidFill>
                  <a:srgbClr val="0E2A2F"/>
                </a:solidFill>
                <a:latin typeface="Calibri"/>
                <a:ea typeface="Calibri"/>
                <a:cs typeface="Calibri"/>
              </a:defRPr>
            </a:defPPr>
          </a:lstStyle>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Primary users: </a:t>
            </a:r>
            <a:r>
              <a:rPr sz="1800" b="0">
                <a:solidFill>
                  <a:srgbClr val="0E2A2F"/>
                </a:solidFill>
                <a:latin typeface="Calibri"/>
                <a:ea typeface="Calibri"/>
                <a:cs typeface="Calibri"/>
              </a:rPr>
              <a:t>Patients and caregivers arranging clinician-recommended, non-emergency hospital visits, especially low-income and rural or peri-urban families facing travel, cost or paperwork barriers.</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Secondary stakeholders: </a:t>
            </a:r>
            <a:r>
              <a:rPr sz="1800" b="0">
                <a:solidFill>
                  <a:srgbClr val="0E2A2F"/>
                </a:solidFill>
                <a:latin typeface="Calibri"/>
                <a:ea typeface="Calibri"/>
                <a:cs typeface="Calibri"/>
              </a:rPr>
              <a:t>Referring clinicians, hospital help desks and social workers, community health workers, and teams that manage public schemes or charitable support.</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Who benefits: </a:t>
            </a:r>
            <a:r>
              <a:rPr sz="1800" b="0">
                <a:solidFill>
                  <a:srgbClr val="0E2A2F"/>
                </a:solidFill>
                <a:latin typeface="Calibri"/>
                <a:ea typeface="Calibri"/>
                <a:cs typeface="Calibri"/>
              </a:rPr>
              <a:t>Families know where to go, what to bring and whom to contact when a step is missing. Clinic staff can follow unresolved barriers through to the visit outcome.</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Access needs: </a:t>
            </a:r>
            <a:r>
              <a:rPr sz="1800" b="0">
                <a:solidFill>
                  <a:srgbClr val="0E2A2F"/>
                </a:solidFill>
                <a:latin typeface="Calibri"/>
                <a:ea typeface="Calibri"/>
                <a:cs typeface="Calibri"/>
              </a:rPr>
              <a:t>A person should be able to use the service with help, in a local language, and receive a printed or phone-based plan if they lack reliable internet.</a:t>
            </a:r>
          </a:p>
        </p:txBody>
      </p:sp>
      <p:sp>
        <p:nvSpPr>
          <p:cNvPr id="25" name="Slide Number Placeholder 0">
            <a:extLst xmlns:a="http://schemas.openxmlformats.org/drawingml/2006/main">
              <a:ext uri="{FF2B5EF4-FFF2-40B4-BE49-F238E27FC236}">
                <a16:creationId xmlns:a16="http://schemas.microsoft.com/office/drawing/2014/main" id="{EB88AFAA-C005-455B-9234-7A5F8F7CE25D}"/>
              </a:ext>
            </a:extLst>
          </p:cNvPr>
          <p:cNvSpPr>
            <a:spLocks xmlns:a="http://schemas.openxmlformats.org/drawingml/2006/main" noGrp="1"/>
          </p:cNvSpPr>
          <p:nvPr>
            <p:ph type="sldNum" idx="4294967295"/>
          </p:nvPr>
        </p:nvSpPr>
        <p:spPr>
          <a:xfrm xmlns:a="http://schemas.openxmlformats.org/drawingml/2006/main">
            <a:off x="11259007" y="6409944"/>
            <a:ext cx="457200" cy="395935"/>
          </a:xfrm>
          <a:prstGeom xmlns:a="http://schemas.openxmlformats.org/drawingml/2006/main" prst="rect">
            <a:avLst/>
          </a:prstGeom>
        </p:spPr>
        <p:txBody>
          <a:bodyPr xmlns:a="http://schemas.openxmlformats.org/drawingml/2006/main" lIns="0" tIns="0" rIns="0" bIns="0" anchor="ctr"/>
          <a:lstStyle xmlns:a="http://schemas.openxmlformats.org/drawingml/2006/main">
            <a:lvl1pPr>
              <a:buNone/>
              <a:defRPr sz="1100">
                <a:solidFill>
                  <a:schemeClr val="tx2"/>
                </a:solidFill>
                <a:latin typeface="Calibri"/>
                <a:ea typeface="Calibri"/>
                <a:cs typeface="Calibri"/>
              </a:defRPr>
            </a:lvl1pPr>
          </a:lstStyle>
          <a:p xmlns:a="http://schemas.openxmlformats.org/drawingml/2006/main">
            <a:pPr algn="ctr">
              <a:buNone/>
            </a:pPr>
            <a:fld id="{F7021451-1387-4CA6-816F-3879F97B5CBC}" type="slidenum">
              <a:rPr b="1"/>
              <a:t>3</a:t>
            </a:fld>
            <a:endParaRPr/>
          </a:p>
        </p:txBody>
      </p:sp>
    </p:spTree>
    <p:extLst>
      <p:ext uri="{BB962C8B-B14F-4D97-AF65-F5344CB8AC3E}">
        <p14:creationId xmlns:p14="http://schemas.microsoft.com/office/powerpoint/2010/main" val="6307752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7">
            <a:extLst xmlns:a="http://schemas.openxmlformats.org/drawingml/2006/main">
              <a:ext uri="{FF2B5EF4-FFF2-40B4-BE49-F238E27FC236}">
                <a16:creationId xmlns:a16="http://schemas.microsoft.com/office/drawing/2014/main" id="{70C6D15D-C301-4BD6-8AE6-D12203F021DC}"/>
              </a:ext>
            </a:extLst>
          </p:cNvPr>
          <p:cNvSpPr>
            <a:spLocks xmlns:a="http://schemas.openxmlformats.org/drawingml/2006/main" noGrp="1"/>
          </p:cNvSpPr>
          <p:nvPr>
            <p:ph type="title" idx="108" hasCustomPrompt="1"/>
          </p:nvPr>
        </p:nvSpPr>
        <p:spPr>
          <a:xfrm xmlns:a="http://schemas.openxmlformats.org/drawingml/2006/main">
            <a:off x="3246120" y="320040"/>
            <a:ext cx="74980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spc="100">
                <a:solidFill>
                  <a:schemeClr val="tx2"/>
                </a:solidFill>
                <a:latin typeface="Cambria"/>
                <a:ea typeface="Cambria"/>
                <a:cs typeface="Cambria"/>
              </a:rPr>
              <a:t>CURRENT SITUATION &amp; CONTEXT</a:t>
            </a:r>
            <a:endParaRPr sz="2400"/>
          </a:p>
        </p:txBody>
      </p:sp>
      <p:sp>
        <p:nvSpPr>
          <p:cNvPr id="3" name="Team Badge">
            <a:extLst xmlns:a="http://schemas.openxmlformats.org/drawingml/2006/main">
              <a:ext uri="{FF2B5EF4-FFF2-40B4-BE49-F238E27FC236}">
                <a16:creationId xmlns:a16="http://schemas.microsoft.com/office/drawing/2014/main" id="{C21C5CF1-1615-4756-A273-1A590976FFFB}"/>
              </a:ext>
            </a:extLst>
          </p:cNvPr>
          <p:cNvSpPr>
            <a:spLocks xmlns:a="http://schemas.openxmlformats.org/drawingml/2006/main" noGrp="1"/>
          </p:cNvSpPr>
          <p:nvPr/>
        </p:nvSpPr>
        <p:spPr>
          <a:xfrm xmlns:a="http://schemas.openxmlformats.org/drawingml/2006/main">
            <a:off x="457200" y="320040"/>
            <a:ext cx="2606040" cy="822960"/>
          </a:xfrm>
          <a:prstGeom xmlns:a="http://schemas.openxmlformats.org/drawingml/2006/main" prst="roundRect">
            <a:avLst>
              <a:gd name="adj" fmla="val 13333"/>
            </a:avLst>
          </a:prstGeom>
          <a:solidFill xmlns:a="http://schemas.openxmlformats.org/drawingml/2006/main">
            <a:schemeClr val="bg1"/>
          </a:solidFill>
          <a:ln xmlns:a="http://schemas.openxmlformats.org/drawingml/2006/main" w="9525">
            <a:solidFill>
              <a:schemeClr val="accent6"/>
            </a:solidFill>
            <a:prstDash val="solid"/>
          </a:ln>
        </p:spPr>
      </p:sp>
      <p:sp>
        <p:nvSpPr>
          <p:cNvPr id="4" name="Team Icon Hex">
            <a:extLst xmlns:a="http://schemas.openxmlformats.org/drawingml/2006/main">
              <a:ext uri="{FF2B5EF4-FFF2-40B4-BE49-F238E27FC236}">
                <a16:creationId xmlns:a16="http://schemas.microsoft.com/office/drawing/2014/main" id="{929EEBE4-96FE-41C1-9FE9-952FFD4E0BD3}"/>
              </a:ext>
            </a:extLst>
          </p:cNvPr>
          <p:cNvSpPr>
            <a:spLocks xmlns:a="http://schemas.openxmlformats.org/drawingml/2006/main" noGrp="1"/>
          </p:cNvSpPr>
          <p:nvPr/>
        </p:nvSpPr>
        <p:spPr>
          <a:xfrm xmlns:a="http://schemas.openxmlformats.org/drawingml/2006/main">
            <a:off x="603504" y="457200"/>
            <a:ext cx="630936" cy="548640"/>
          </a:xfrm>
          <a:prstGeom xmlns:a="http://schemas.openxmlformats.org/drawingml/2006/main" prst="hexagon">
            <a:avLst/>
          </a:prstGeom>
          <a:solidFill xmlns:a="http://schemas.openxmlformats.org/drawingml/2006/main">
            <a:schemeClr val="bg2"/>
          </a:solidFill>
          <a:ln xmlns:a="http://schemas.openxmlformats.org/drawingml/2006/main" w="9525">
            <a:solidFill>
              <a:schemeClr val="accent6"/>
            </a:solidFill>
            <a:prstDash val="solid"/>
          </a:ln>
        </p:spPr>
      </p:sp>
      <p:pic>
        <p:nvPicPr>
          <p:cNvPr id="5" name="Team Icon">
            <a:extLst xmlns:a="http://schemas.openxmlformats.org/drawingml/2006/main">
              <a:ext uri="{FF2B5EF4-FFF2-40B4-BE49-F238E27FC236}">
                <a16:creationId xmlns:a16="http://schemas.microsoft.com/office/drawing/2014/main" id="{97E6F0F6-EF90-4CB6-B8A6-74D14877DADC}"/>
              </a:ext>
            </a:extLst>
          </p:cNvPr>
          <p:cNvPicPr>
            <a:picLocks xmlns:a="http://schemas.openxmlformats.org/drawingml/2006/main" noChangeAspect="1"/>
          </p:cNvPicPr>
          <p:nvPr/>
        </p:nvPicPr>
        <p:blipFill>
          <a:blip xmlns:r="http://schemas.openxmlformats.org/officeDocument/2006/relationships" xmlns:a="http://schemas.openxmlformats.org/drawingml/2006/main" r:embed="R9ab00d125e644e08"/>
          <a:stretch xmlns:a="http://schemas.openxmlformats.org/drawingml/2006/main">
            <a:fillRect l="0" t="0" r="0" b="0"/>
          </a:stretch>
        </p:blipFill>
        <p:spPr>
          <a:xfrm xmlns:a="http://schemas.openxmlformats.org/drawingml/2006/main">
            <a:off x="736092" y="548640"/>
            <a:ext cx="365760" cy="365760"/>
          </a:xfrm>
          <a:prstGeom xmlns:a="http://schemas.openxmlformats.org/drawingml/2006/main" prst="rect">
            <a:avLst/>
          </a:prstGeom>
        </p:spPr>
      </p:pic>
      <p:sp>
        <p:nvSpPr>
          <p:cNvPr id="6" name="Team Name">
            <a:extLst xmlns:a="http://schemas.openxmlformats.org/drawingml/2006/main">
              <a:ext uri="{FF2B5EF4-FFF2-40B4-BE49-F238E27FC236}">
                <a16:creationId xmlns:a16="http://schemas.microsoft.com/office/drawing/2014/main" id="{AB4A15F4-2CB8-4193-8688-17EE94869856}"/>
              </a:ext>
            </a:extLst>
          </p:cNvPr>
          <p:cNvSpPr>
            <a:spLocks xmlns:a="http://schemas.openxmlformats.org/drawingml/2006/main" noGrp="1"/>
          </p:cNvSpPr>
          <p:nvPr/>
        </p:nvSpPr>
        <p:spPr>
          <a:xfrm xmlns:a="http://schemas.openxmlformats.org/drawingml/2006/main">
            <a:off x="1371600" y="384048"/>
            <a:ext cx="162763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spc="300">
                <a:solidFill>
                  <a:schemeClr val="accent5"/>
                </a:solidFill>
              </a:rPr>
              <a:t>TEAM</a:t>
            </a:r>
            <a:endParaRPr sz="900"/>
          </a:p>
          <a:p xmlns:a="http://schemas.openxmlformats.org/drawingml/2006/main">
            <a:pPr marL="0" indent="0">
              <a:buNone/>
            </a:pPr>
            <a:r>
              <a:rPr sz="1500" b="1">
                <a:solidFill>
                  <a:schemeClr val="accent1"/>
                </a:solidFill>
              </a:rPr>
              <a:t>Anthara</a:t>
            </a:r>
            <a:endParaRPr sz="900"/>
          </a:p>
        </p:txBody>
      </p:sp>
      <p:sp>
        <p:nvSpPr>
          <p:cNvPr id="7" name="Lead Icon Hex">
            <a:extLst xmlns:a="http://schemas.openxmlformats.org/drawingml/2006/main">
              <a:ext uri="{FF2B5EF4-FFF2-40B4-BE49-F238E27FC236}">
                <a16:creationId xmlns:a16="http://schemas.microsoft.com/office/drawing/2014/main" id="{B0760373-CAA0-4557-9206-ACE886FE71DC}"/>
              </a:ext>
            </a:extLst>
          </p:cNvPr>
          <p:cNvSpPr>
            <a:spLocks xmlns:a="http://schemas.openxmlformats.org/drawingml/2006/main" noGrp="1"/>
          </p:cNvSpPr>
          <p:nvPr/>
        </p:nvSpPr>
        <p:spPr>
          <a:xfrm xmlns:a="http://schemas.openxmlformats.org/drawingml/2006/main">
            <a:off x="548640" y="1463040"/>
            <a:ext cx="457200" cy="395935"/>
          </a:xfrm>
          <a:prstGeom xmlns:a="http://schemas.openxmlformats.org/drawingml/2006/main" prst="hexagon">
            <a:avLst/>
          </a:prstGeom>
          <a:solidFill xmlns:a="http://schemas.openxmlformats.org/drawingml/2006/main">
            <a:schemeClr val="accent3"/>
          </a:solidFill>
        </p:spPr>
      </p:sp>
      <p:pic>
        <p:nvPicPr>
          <p:cNvPr id="8" name="Lead Icon">
            <a:extLst xmlns:a="http://schemas.openxmlformats.org/drawingml/2006/main">
              <a:ext uri="{FF2B5EF4-FFF2-40B4-BE49-F238E27FC236}">
                <a16:creationId xmlns:a16="http://schemas.microsoft.com/office/drawing/2014/main" id="{8CAC7635-8533-4CFA-BE04-9E15C44E5447}"/>
              </a:ext>
            </a:extLst>
          </p:cNvPr>
          <p:cNvPicPr>
            <a:picLocks xmlns:a="http://schemas.openxmlformats.org/drawingml/2006/main" noChangeAspect="1"/>
          </p:cNvPicPr>
          <p:nvPr/>
        </p:nvPicPr>
        <p:blipFill>
          <a:blip xmlns:r="http://schemas.openxmlformats.org/officeDocument/2006/relationships" xmlns:a="http://schemas.openxmlformats.org/drawingml/2006/main" r:embed="R3873870f1b384eaa"/>
          <a:stretch xmlns:a="http://schemas.openxmlformats.org/drawingml/2006/main">
            <a:fillRect l="0" t="0" r="0" b="0"/>
          </a:stretch>
        </p:blipFill>
        <p:spPr>
          <a:xfrm xmlns:a="http://schemas.openxmlformats.org/drawingml/2006/main">
            <a:off x="640080" y="1523390"/>
            <a:ext cx="274320" cy="274320"/>
          </a:xfrm>
          <a:prstGeom xmlns:a="http://schemas.openxmlformats.org/drawingml/2006/main" prst="rect">
            <a:avLst/>
          </a:prstGeom>
        </p:spPr>
      </p:pic>
      <p:sp>
        <p:nvSpPr>
          <p:cNvPr id="9" name="Lead Text">
            <a:extLst xmlns:a="http://schemas.openxmlformats.org/drawingml/2006/main">
              <a:ext uri="{FF2B5EF4-FFF2-40B4-BE49-F238E27FC236}">
                <a16:creationId xmlns:a16="http://schemas.microsoft.com/office/drawing/2014/main" id="{EDFA3EC7-7652-46E5-9427-0AA7E68DDAC5}"/>
              </a:ext>
            </a:extLst>
          </p:cNvPr>
          <p:cNvSpPr>
            <a:spLocks xmlns:a="http://schemas.openxmlformats.org/drawingml/2006/main" noGrp="1"/>
          </p:cNvSpPr>
          <p:nvPr/>
        </p:nvSpPr>
        <p:spPr>
          <a:xfrm xmlns:a="http://schemas.openxmlformats.org/drawingml/2006/main">
            <a:off x="1170432" y="1417320"/>
            <a:ext cx="9601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800" b="1">
                <a:solidFill>
                  <a:srgbClr val="094542"/>
                </a:solidFill>
                <a:latin typeface="Calibri"/>
                <a:ea typeface="Calibri"/>
                <a:cs typeface="Calibri"/>
              </a:defRPr>
            </a:defPPr>
          </a:lstStyle>
          <a:p xmlns:a="http://schemas.openxmlformats.org/drawingml/2006/main">
            <a:pPr marL="0" indent="0">
              <a:buNone/>
              <a:defRPr sz="1800" b="1">
                <a:solidFill>
                  <a:srgbClr val="094542"/>
                </a:solidFill>
                <a:latin typeface="Calibri"/>
                <a:ea typeface="Calibri"/>
                <a:cs typeface="Calibri"/>
              </a:defRPr>
            </a:pPr>
            <a:r>
              <a:rPr sz="1800" b="1">
                <a:solidFill>
                  <a:srgbClr val="094542"/>
                </a:solidFill>
                <a:latin typeface="Calibri"/>
                <a:ea typeface="Calibri"/>
                <a:cs typeface="Calibri"/>
              </a:rPr>
              <a:t>How families may prepare for a planned hospital visit</a:t>
            </a:r>
            <a:endParaRPr sz="1800"/>
          </a:p>
        </p:txBody>
      </p:sp>
      <p:sp>
        <p:nvSpPr>
          <p:cNvPr id="10" name="Prompts">
            <a:extLst xmlns:a="http://schemas.openxmlformats.org/drawingml/2006/main">
              <a:ext uri="{FF2B5EF4-FFF2-40B4-BE49-F238E27FC236}">
                <a16:creationId xmlns:a16="http://schemas.microsoft.com/office/drawing/2014/main" id="{B24914BA-F34F-4463-A232-D0B162FBA008}"/>
              </a:ext>
            </a:extLst>
          </p:cNvPr>
          <p:cNvSpPr>
            <a:spLocks xmlns:a="http://schemas.openxmlformats.org/drawingml/2006/main" noGrp="1"/>
          </p:cNvSpPr>
          <p:nvPr/>
        </p:nvSpPr>
        <p:spPr>
          <a:xfrm xmlns:a="http://schemas.openxmlformats.org/drawingml/2006/main">
            <a:off x="868680" y="2148840"/>
            <a:ext cx="1042416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800">
                <a:solidFill>
                  <a:srgbClr val="0E2A2F"/>
                </a:solidFill>
                <a:latin typeface="Calibri"/>
                <a:ea typeface="Calibri"/>
                <a:cs typeface="Calibri"/>
              </a:defRPr>
            </a:defPPr>
          </a:lstStyle>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Existing situation: </a:t>
            </a:r>
            <a:r>
              <a:rPr sz="1800" b="0">
                <a:solidFill>
                  <a:srgbClr val="0E2A2F"/>
                </a:solidFill>
                <a:latin typeface="Calibri"/>
                <a:ea typeface="Calibri"/>
                <a:cs typeface="Calibri"/>
              </a:rPr>
              <a:t>Service, document, cost and travel information may come from different places. A family must work out how those pieces fit before the planned hospital visit.</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Evidence of the gap:</a:t>
            </a:r>
            <a:r>
              <a:rPr sz="1800" b="0">
                <a:solidFill>
                  <a:srgbClr val="0E2A2F"/>
                </a:solidFill>
                <a:latin typeface="Calibri"/>
                <a:ea typeface="Calibri"/>
                <a:cs typeface="Calibri"/>
              </a:rPr>
              <a:t> </a:t>
            </a:r>
            <a:r>
              <a:rPr sz="1800" b="0">
                <a:solidFill>
                  <a:srgbClr val="0E2A2F"/>
                </a:solidFill>
                <a:latin typeface="Calibri"/>
                <a:ea typeface="Calibri"/>
                <a:cs typeface="Calibri"/>
              </a:rPr>
              <a:t>Indian eye-care referral studies document non-attendance and a mix of financial and attitudinal barriers. We must check which barriers affect our chosen local pathway.</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Illustrative journey to validate: </a:t>
            </a:r>
            <a:r>
              <a:rPr sz="1800" b="0">
                <a:solidFill>
                  <a:srgbClr val="0E2A2F"/>
                </a:solidFill>
                <a:latin typeface="Calibri"/>
                <a:ea typeface="Calibri"/>
                <a:cs typeface="Calibri"/>
              </a:rPr>
              <a:t>1. A clinician specifies the service and timeframe. 2. Staff share a checked visit checklist. 3. The family flags barriers for staff to resolve. 4. Staff confirm whether the planned service was received.</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Where it can break: </a:t>
            </a:r>
            <a:r>
              <a:rPr sz="1800" b="0">
                <a:solidFill>
                  <a:srgbClr val="0E2A2F"/>
                </a:solidFill>
                <a:latin typeface="Calibri"/>
                <a:ea typeface="Calibri"/>
                <a:cs typeface="Calibri"/>
              </a:rPr>
              <a:t>An unavailable service, missing document or unresolved payment requirement may prevent the planned service after travel. We would validate these causes with patients and care teams.</a:t>
            </a:r>
          </a:p>
        </p:txBody>
      </p:sp>
      <p:sp>
        <p:nvSpPr>
          <p:cNvPr id="25" name="Slide Number Placeholder 0">
            <a:extLst xmlns:a="http://schemas.openxmlformats.org/drawingml/2006/main">
              <a:ext uri="{FF2B5EF4-FFF2-40B4-BE49-F238E27FC236}">
                <a16:creationId xmlns:a16="http://schemas.microsoft.com/office/drawing/2014/main" id="{1B4A5848-EA13-413F-9CC4-AEE37F9A9A7D}"/>
              </a:ext>
            </a:extLst>
          </p:cNvPr>
          <p:cNvSpPr>
            <a:spLocks xmlns:a="http://schemas.openxmlformats.org/drawingml/2006/main" noGrp="1"/>
          </p:cNvSpPr>
          <p:nvPr>
            <p:ph type="sldNum" idx="4294967295"/>
          </p:nvPr>
        </p:nvSpPr>
        <p:spPr>
          <a:xfrm xmlns:a="http://schemas.openxmlformats.org/drawingml/2006/main">
            <a:off x="11259007" y="6409944"/>
            <a:ext cx="457200" cy="395935"/>
          </a:xfrm>
          <a:prstGeom xmlns:a="http://schemas.openxmlformats.org/drawingml/2006/main" prst="rect">
            <a:avLst/>
          </a:prstGeom>
        </p:spPr>
        <p:txBody>
          <a:bodyPr xmlns:a="http://schemas.openxmlformats.org/drawingml/2006/main" lIns="0" tIns="0" rIns="0" bIns="0" anchor="ctr"/>
          <a:lstStyle xmlns:a="http://schemas.openxmlformats.org/drawingml/2006/main">
            <a:lvl1pPr>
              <a:buNone/>
              <a:defRPr sz="1100">
                <a:solidFill>
                  <a:schemeClr val="tx2"/>
                </a:solidFill>
                <a:latin typeface="Calibri"/>
                <a:ea typeface="Calibri"/>
                <a:cs typeface="Calibri"/>
              </a:defRPr>
            </a:lvl1pPr>
          </a:lstStyle>
          <a:p xmlns:a="http://schemas.openxmlformats.org/drawingml/2006/main">
            <a:pPr algn="ctr">
              <a:buNone/>
            </a:pPr>
            <a:fld id="{F7021451-1387-4CA6-816F-3879F97B5CBC}" type="slidenum">
              <a:rPr b="1"/>
              <a:t>4</a:t>
            </a:fld>
            <a:endParaRPr/>
          </a:p>
        </p:txBody>
      </p:sp>
    </p:spTree>
    <p:extLst>
      <p:ext uri="{BB962C8B-B14F-4D97-AF65-F5344CB8AC3E}">
        <p14:creationId xmlns:p14="http://schemas.microsoft.com/office/powerpoint/2010/main" val="3421766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7">
            <a:extLst xmlns:a="http://schemas.openxmlformats.org/drawingml/2006/main">
              <a:ext uri="{FF2B5EF4-FFF2-40B4-BE49-F238E27FC236}">
                <a16:creationId xmlns:a16="http://schemas.microsoft.com/office/drawing/2014/main" id="{2F073A9D-B6D1-464F-84EC-39F6A2AC85F2}"/>
              </a:ext>
            </a:extLst>
          </p:cNvPr>
          <p:cNvSpPr>
            <a:spLocks xmlns:a="http://schemas.openxmlformats.org/drawingml/2006/main" noGrp="1"/>
          </p:cNvSpPr>
          <p:nvPr>
            <p:ph type="title" idx="108" hasCustomPrompt="1"/>
          </p:nvPr>
        </p:nvSpPr>
        <p:spPr>
          <a:xfrm xmlns:a="http://schemas.openxmlformats.org/drawingml/2006/main">
            <a:off x="3246120" y="320040"/>
            <a:ext cx="74980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spc="100">
                <a:solidFill>
                  <a:schemeClr val="tx2"/>
                </a:solidFill>
                <a:latin typeface="Cambria"/>
                <a:ea typeface="Cambria"/>
                <a:cs typeface="Cambria"/>
              </a:rPr>
              <a:t>KEY CHALLENGES</a:t>
            </a:r>
            <a:endParaRPr sz="2400"/>
          </a:p>
        </p:txBody>
      </p:sp>
      <p:sp>
        <p:nvSpPr>
          <p:cNvPr id="3" name="Team Badge">
            <a:extLst xmlns:a="http://schemas.openxmlformats.org/drawingml/2006/main">
              <a:ext uri="{FF2B5EF4-FFF2-40B4-BE49-F238E27FC236}">
                <a16:creationId xmlns:a16="http://schemas.microsoft.com/office/drawing/2014/main" id="{8F68D6FD-36A7-4E3C-BCBC-B1124C8455AB}"/>
              </a:ext>
            </a:extLst>
          </p:cNvPr>
          <p:cNvSpPr>
            <a:spLocks xmlns:a="http://schemas.openxmlformats.org/drawingml/2006/main" noGrp="1"/>
          </p:cNvSpPr>
          <p:nvPr/>
        </p:nvSpPr>
        <p:spPr>
          <a:xfrm xmlns:a="http://schemas.openxmlformats.org/drawingml/2006/main">
            <a:off x="457200" y="320040"/>
            <a:ext cx="2606040" cy="822960"/>
          </a:xfrm>
          <a:prstGeom xmlns:a="http://schemas.openxmlformats.org/drawingml/2006/main" prst="roundRect">
            <a:avLst>
              <a:gd name="adj" fmla="val 13333"/>
            </a:avLst>
          </a:prstGeom>
          <a:solidFill xmlns:a="http://schemas.openxmlformats.org/drawingml/2006/main">
            <a:schemeClr val="bg1"/>
          </a:solidFill>
          <a:ln xmlns:a="http://schemas.openxmlformats.org/drawingml/2006/main" w="9525">
            <a:solidFill>
              <a:schemeClr val="accent6"/>
            </a:solidFill>
            <a:prstDash val="solid"/>
          </a:ln>
        </p:spPr>
      </p:sp>
      <p:sp>
        <p:nvSpPr>
          <p:cNvPr id="4" name="Team Icon Hex">
            <a:extLst xmlns:a="http://schemas.openxmlformats.org/drawingml/2006/main">
              <a:ext uri="{FF2B5EF4-FFF2-40B4-BE49-F238E27FC236}">
                <a16:creationId xmlns:a16="http://schemas.microsoft.com/office/drawing/2014/main" id="{BC7A5A28-F9C0-47DB-940B-A4477991D16D}"/>
              </a:ext>
            </a:extLst>
          </p:cNvPr>
          <p:cNvSpPr>
            <a:spLocks xmlns:a="http://schemas.openxmlformats.org/drawingml/2006/main" noGrp="1"/>
          </p:cNvSpPr>
          <p:nvPr/>
        </p:nvSpPr>
        <p:spPr>
          <a:xfrm xmlns:a="http://schemas.openxmlformats.org/drawingml/2006/main">
            <a:off x="603504" y="457200"/>
            <a:ext cx="630936" cy="548640"/>
          </a:xfrm>
          <a:prstGeom xmlns:a="http://schemas.openxmlformats.org/drawingml/2006/main" prst="hexagon">
            <a:avLst/>
          </a:prstGeom>
          <a:solidFill xmlns:a="http://schemas.openxmlformats.org/drawingml/2006/main">
            <a:schemeClr val="bg2"/>
          </a:solidFill>
          <a:ln xmlns:a="http://schemas.openxmlformats.org/drawingml/2006/main" w="9525">
            <a:solidFill>
              <a:schemeClr val="accent6"/>
            </a:solidFill>
            <a:prstDash val="solid"/>
          </a:ln>
        </p:spPr>
      </p:sp>
      <p:pic>
        <p:nvPicPr>
          <p:cNvPr id="5" name="Team Icon">
            <a:extLst xmlns:a="http://schemas.openxmlformats.org/drawingml/2006/main">
              <a:ext uri="{FF2B5EF4-FFF2-40B4-BE49-F238E27FC236}">
                <a16:creationId xmlns:a16="http://schemas.microsoft.com/office/drawing/2014/main" id="{6C0D0681-213A-494E-A9BD-87EC0CC87D47}"/>
              </a:ext>
            </a:extLst>
          </p:cNvPr>
          <p:cNvPicPr>
            <a:picLocks xmlns:a="http://schemas.openxmlformats.org/drawingml/2006/main" noChangeAspect="1"/>
          </p:cNvPicPr>
          <p:nvPr/>
        </p:nvPicPr>
        <p:blipFill>
          <a:blip xmlns:r="http://schemas.openxmlformats.org/officeDocument/2006/relationships" xmlns:a="http://schemas.openxmlformats.org/drawingml/2006/main" r:embed="Rff9e596a4d4f4a89"/>
          <a:stretch xmlns:a="http://schemas.openxmlformats.org/drawingml/2006/main">
            <a:fillRect l="0" t="0" r="0" b="0"/>
          </a:stretch>
        </p:blipFill>
        <p:spPr>
          <a:xfrm xmlns:a="http://schemas.openxmlformats.org/drawingml/2006/main">
            <a:off x="736092" y="548640"/>
            <a:ext cx="365760" cy="365760"/>
          </a:xfrm>
          <a:prstGeom xmlns:a="http://schemas.openxmlformats.org/drawingml/2006/main" prst="rect">
            <a:avLst/>
          </a:prstGeom>
        </p:spPr>
      </p:pic>
      <p:sp>
        <p:nvSpPr>
          <p:cNvPr id="6" name="Team Name">
            <a:extLst xmlns:a="http://schemas.openxmlformats.org/drawingml/2006/main">
              <a:ext uri="{FF2B5EF4-FFF2-40B4-BE49-F238E27FC236}">
                <a16:creationId xmlns:a16="http://schemas.microsoft.com/office/drawing/2014/main" id="{7F5E018D-3C6F-4680-ABB4-019D65B421FD}"/>
              </a:ext>
            </a:extLst>
          </p:cNvPr>
          <p:cNvSpPr>
            <a:spLocks xmlns:a="http://schemas.openxmlformats.org/drawingml/2006/main" noGrp="1"/>
          </p:cNvSpPr>
          <p:nvPr/>
        </p:nvSpPr>
        <p:spPr>
          <a:xfrm xmlns:a="http://schemas.openxmlformats.org/drawingml/2006/main">
            <a:off x="1371600" y="384048"/>
            <a:ext cx="162763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spc="300">
                <a:solidFill>
                  <a:schemeClr val="accent5"/>
                </a:solidFill>
              </a:rPr>
              <a:t>TEAM</a:t>
            </a:r>
            <a:endParaRPr sz="900"/>
          </a:p>
          <a:p xmlns:a="http://schemas.openxmlformats.org/drawingml/2006/main">
            <a:pPr marL="0" indent="0">
              <a:buNone/>
            </a:pPr>
            <a:r>
              <a:rPr sz="1500" b="1">
                <a:solidFill>
                  <a:schemeClr val="accent1"/>
                </a:solidFill>
              </a:rPr>
              <a:t>Anthara</a:t>
            </a:r>
            <a:endParaRPr sz="900"/>
          </a:p>
        </p:txBody>
      </p:sp>
      <p:sp>
        <p:nvSpPr>
          <p:cNvPr id="7" name="Lead Icon Hex">
            <a:extLst xmlns:a="http://schemas.openxmlformats.org/drawingml/2006/main">
              <a:ext uri="{FF2B5EF4-FFF2-40B4-BE49-F238E27FC236}">
                <a16:creationId xmlns:a16="http://schemas.microsoft.com/office/drawing/2014/main" id="{6E1F118B-C512-4044-BA9F-E19FADFFDB5D}"/>
              </a:ext>
            </a:extLst>
          </p:cNvPr>
          <p:cNvSpPr>
            <a:spLocks xmlns:a="http://schemas.openxmlformats.org/drawingml/2006/main" noGrp="1"/>
          </p:cNvSpPr>
          <p:nvPr/>
        </p:nvSpPr>
        <p:spPr>
          <a:xfrm xmlns:a="http://schemas.openxmlformats.org/drawingml/2006/main">
            <a:off x="548640" y="1463040"/>
            <a:ext cx="457200" cy="395935"/>
          </a:xfrm>
          <a:prstGeom xmlns:a="http://schemas.openxmlformats.org/drawingml/2006/main" prst="hexagon">
            <a:avLst/>
          </a:prstGeom>
          <a:solidFill xmlns:a="http://schemas.openxmlformats.org/drawingml/2006/main">
            <a:schemeClr val="accent3"/>
          </a:solidFill>
        </p:spPr>
      </p:sp>
      <p:pic>
        <p:nvPicPr>
          <p:cNvPr id="8" name="Lead Icon">
            <a:extLst xmlns:a="http://schemas.openxmlformats.org/drawingml/2006/main">
              <a:ext uri="{FF2B5EF4-FFF2-40B4-BE49-F238E27FC236}">
                <a16:creationId xmlns:a16="http://schemas.microsoft.com/office/drawing/2014/main" id="{90904AA9-2144-4B65-B85B-C1177B09F2F2}"/>
              </a:ext>
            </a:extLst>
          </p:cNvPr>
          <p:cNvPicPr>
            <a:picLocks xmlns:a="http://schemas.openxmlformats.org/drawingml/2006/main" noChangeAspect="1"/>
          </p:cNvPicPr>
          <p:nvPr/>
        </p:nvPicPr>
        <p:blipFill>
          <a:blip xmlns:r="http://schemas.openxmlformats.org/officeDocument/2006/relationships" xmlns:a="http://schemas.openxmlformats.org/drawingml/2006/main" r:embed="Rd436c1f5d5fe4cf5"/>
          <a:stretch xmlns:a="http://schemas.openxmlformats.org/drawingml/2006/main">
            <a:fillRect l="0" t="0" r="0" b="0"/>
          </a:stretch>
        </p:blipFill>
        <p:spPr>
          <a:xfrm xmlns:a="http://schemas.openxmlformats.org/drawingml/2006/main">
            <a:off x="640080" y="1523390"/>
            <a:ext cx="274320" cy="274320"/>
          </a:xfrm>
          <a:prstGeom xmlns:a="http://schemas.openxmlformats.org/drawingml/2006/main" prst="rect">
            <a:avLst/>
          </a:prstGeom>
        </p:spPr>
      </p:pic>
      <p:sp>
        <p:nvSpPr>
          <p:cNvPr id="9" name="Lead Text">
            <a:extLst xmlns:a="http://schemas.openxmlformats.org/drawingml/2006/main">
              <a:ext uri="{FF2B5EF4-FFF2-40B4-BE49-F238E27FC236}">
                <a16:creationId xmlns:a16="http://schemas.microsoft.com/office/drawing/2014/main" id="{C3884D27-D07F-42CB-A1C9-F4BCFC38738F}"/>
              </a:ext>
            </a:extLst>
          </p:cNvPr>
          <p:cNvSpPr>
            <a:spLocks xmlns:a="http://schemas.openxmlformats.org/drawingml/2006/main" noGrp="1"/>
          </p:cNvSpPr>
          <p:nvPr/>
        </p:nvSpPr>
        <p:spPr>
          <a:xfrm xmlns:a="http://schemas.openxmlformats.org/drawingml/2006/main">
            <a:off x="1170432" y="1417320"/>
            <a:ext cx="9601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800" b="1">
                <a:solidFill>
                  <a:srgbClr val="094542"/>
                </a:solidFill>
                <a:latin typeface="Calibri"/>
                <a:ea typeface="Calibri"/>
                <a:cs typeface="Calibri"/>
              </a:defRPr>
            </a:defPPr>
          </a:lstStyle>
          <a:p xmlns:a="http://schemas.openxmlformats.org/drawingml/2006/main">
            <a:pPr marL="0" indent="0">
              <a:buNone/>
              <a:defRPr sz="1800" b="1">
                <a:solidFill>
                  <a:srgbClr val="094542"/>
                </a:solidFill>
                <a:latin typeface="Calibri"/>
                <a:ea typeface="Calibri"/>
                <a:cs typeface="Calibri"/>
              </a:defRPr>
            </a:pPr>
            <a:r>
              <a:rPr sz="1800" b="1">
                <a:solidFill>
                  <a:srgbClr val="094542"/>
                </a:solidFill>
                <a:latin typeface="Calibri"/>
                <a:ea typeface="Calibri"/>
                <a:cs typeface="Calibri"/>
              </a:rPr>
              <a:t>Practical barriers can accumulate before a patient reaches care</a:t>
            </a:r>
            <a:endParaRPr sz="1800"/>
          </a:p>
        </p:txBody>
      </p:sp>
      <p:sp>
        <p:nvSpPr>
          <p:cNvPr id="10" name="Prompts">
            <a:extLst xmlns:a="http://schemas.openxmlformats.org/drawingml/2006/main">
              <a:ext uri="{FF2B5EF4-FFF2-40B4-BE49-F238E27FC236}">
                <a16:creationId xmlns:a16="http://schemas.microsoft.com/office/drawing/2014/main" id="{90195FB0-A1F9-4887-8A9C-12360A900DE6}"/>
              </a:ext>
            </a:extLst>
          </p:cNvPr>
          <p:cNvSpPr>
            <a:spLocks xmlns:a="http://schemas.openxmlformats.org/drawingml/2006/main" noGrp="1"/>
          </p:cNvSpPr>
          <p:nvPr/>
        </p:nvSpPr>
        <p:spPr>
          <a:xfrm xmlns:a="http://schemas.openxmlformats.org/drawingml/2006/main">
            <a:off x="868680" y="2148840"/>
            <a:ext cx="1042416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800">
                <a:solidFill>
                  <a:srgbClr val="0E2A2F"/>
                </a:solidFill>
                <a:latin typeface="Calibri"/>
                <a:ea typeface="Calibri"/>
                <a:cs typeface="Calibri"/>
              </a:defRPr>
            </a:defPPr>
          </a:lstStyle>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Uncertain service availability: </a:t>
            </a:r>
            <a:r>
              <a:rPr sz="1800" b="0">
                <a:solidFill>
                  <a:srgbClr val="0E2A2F"/>
                </a:solidFill>
                <a:latin typeface="Calibri"/>
                <a:ea typeface="Calibri"/>
                <a:cs typeface="Calibri"/>
              </a:rPr>
              <a:t>Scattered or outdated information makes it hard to confirm the right service and timing. Families may travel to a facility that cannot meet the need.</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An incomplete cost picture: </a:t>
            </a:r>
            <a:r>
              <a:rPr sz="1800" b="0">
                <a:solidFill>
                  <a:srgbClr val="0E2A2F"/>
                </a:solidFill>
                <a:latin typeface="Calibri"/>
                <a:ea typeface="Calibri"/>
                <a:cs typeface="Calibri"/>
              </a:rPr>
              <a:t>The treatment fee alone misses travel, a possible stay and lost wages. A seemingly affordable option may still exceed the family's budget.</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Unclear support and paperwork: </a:t>
            </a:r>
            <a:r>
              <a:rPr sz="1800" b="0">
                <a:solidFill>
                  <a:srgbClr val="0E2A2F"/>
                </a:solidFill>
                <a:latin typeface="Calibri"/>
                <a:ea typeface="Calibri"/>
                <a:cs typeface="Calibri"/>
              </a:rPr>
              <a:t>Eligibility, approvals and required documents can depend on different teams. Discovering a missing step late can delay care or leave bills unpaid.</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Unresolved requirements:</a:t>
            </a:r>
            <a:r>
              <a:rPr sz="1800" b="0">
                <a:solidFill>
                  <a:srgbClr val="0E2A2F"/>
                </a:solidFill>
                <a:latin typeface="Calibri"/>
                <a:ea typeface="Calibri"/>
                <a:cs typeface="Calibri"/>
              </a:rPr>
              <a:t> </a:t>
            </a:r>
            <a:r>
              <a:rPr sz="1800" b="0">
                <a:solidFill>
                  <a:srgbClr val="0E2A2F"/>
                </a:solidFill>
                <a:latin typeface="Calibri"/>
                <a:ea typeface="Calibri"/>
                <a:cs typeface="Calibri"/>
              </a:rPr>
              <a:t>A missing document or confirmation needs an owner and a next step. Families need help resolving the barrier before the visit, without delaying necessary care.</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Limit of navigation: </a:t>
            </a:r>
            <a:r>
              <a:rPr sz="1800" b="0">
                <a:solidFill>
                  <a:srgbClr val="0E2A2F"/>
                </a:solidFill>
                <a:latin typeface="Calibri"/>
                <a:ea typeface="Calibri"/>
                <a:cs typeface="Calibri"/>
              </a:rPr>
              <a:t>Software can reveal barriers early and help coordinate support. It cannot create missing specialists, transport or funding.</a:t>
            </a:r>
          </a:p>
        </p:txBody>
      </p:sp>
      <p:sp>
        <p:nvSpPr>
          <p:cNvPr id="25" name="Slide Number Placeholder 0">
            <a:extLst xmlns:a="http://schemas.openxmlformats.org/drawingml/2006/main">
              <a:ext uri="{FF2B5EF4-FFF2-40B4-BE49-F238E27FC236}">
                <a16:creationId xmlns:a16="http://schemas.microsoft.com/office/drawing/2014/main" id="{CC969CF5-DA13-4788-BFCE-A544FE5436FF}"/>
              </a:ext>
            </a:extLst>
          </p:cNvPr>
          <p:cNvSpPr>
            <a:spLocks xmlns:a="http://schemas.openxmlformats.org/drawingml/2006/main" noGrp="1"/>
          </p:cNvSpPr>
          <p:nvPr>
            <p:ph type="sldNum" idx="4294967295"/>
          </p:nvPr>
        </p:nvSpPr>
        <p:spPr>
          <a:xfrm xmlns:a="http://schemas.openxmlformats.org/drawingml/2006/main">
            <a:off x="11259007" y="6409944"/>
            <a:ext cx="457200" cy="395935"/>
          </a:xfrm>
          <a:prstGeom xmlns:a="http://schemas.openxmlformats.org/drawingml/2006/main" prst="rect">
            <a:avLst/>
          </a:prstGeom>
        </p:spPr>
        <p:txBody>
          <a:bodyPr xmlns:a="http://schemas.openxmlformats.org/drawingml/2006/main" lIns="0" tIns="0" rIns="0" bIns="0" anchor="ctr"/>
          <a:lstStyle xmlns:a="http://schemas.openxmlformats.org/drawingml/2006/main">
            <a:lvl1pPr>
              <a:buNone/>
              <a:defRPr sz="1100">
                <a:solidFill>
                  <a:schemeClr val="tx2"/>
                </a:solidFill>
                <a:latin typeface="Calibri"/>
                <a:ea typeface="Calibri"/>
                <a:cs typeface="Calibri"/>
              </a:defRPr>
            </a:lvl1pPr>
          </a:lstStyle>
          <a:p xmlns:a="http://schemas.openxmlformats.org/drawingml/2006/main">
            <a:pPr algn="ctr">
              <a:buNone/>
            </a:pPr>
            <a:fld id="{F7021451-1387-4CA6-816F-3879F97B5CBC}" type="slidenum">
              <a:rPr b="1"/>
              <a:t>5</a:t>
            </a:fld>
            <a:endParaRPr/>
          </a:p>
        </p:txBody>
      </p:sp>
    </p:spTree>
    <p:extLst>
      <p:ext uri="{BB962C8B-B14F-4D97-AF65-F5344CB8AC3E}">
        <p14:creationId xmlns:p14="http://schemas.microsoft.com/office/powerpoint/2010/main" val="192081472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7">
            <a:extLst xmlns:a="http://schemas.openxmlformats.org/drawingml/2006/main">
              <a:ext uri="{FF2B5EF4-FFF2-40B4-BE49-F238E27FC236}">
                <a16:creationId xmlns:a16="http://schemas.microsoft.com/office/drawing/2014/main" id="{98C76B38-7FB5-495D-9900-D40A1FF19746}"/>
              </a:ext>
            </a:extLst>
          </p:cNvPr>
          <p:cNvSpPr>
            <a:spLocks xmlns:a="http://schemas.openxmlformats.org/drawingml/2006/main" noGrp="1"/>
          </p:cNvSpPr>
          <p:nvPr>
            <p:ph type="title" idx="108" hasCustomPrompt="1"/>
          </p:nvPr>
        </p:nvSpPr>
        <p:spPr>
          <a:xfrm xmlns:a="http://schemas.openxmlformats.org/drawingml/2006/main">
            <a:off x="3246120" y="320040"/>
            <a:ext cx="74980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spc="100">
                <a:solidFill>
                  <a:schemeClr val="tx2"/>
                </a:solidFill>
                <a:latin typeface="Cambria"/>
                <a:ea typeface="Cambria"/>
                <a:cs typeface="Cambria"/>
              </a:rPr>
              <a:t>EXISTING SOLUTIONS / APPROACHES</a:t>
            </a:r>
            <a:endParaRPr sz="2400"/>
          </a:p>
        </p:txBody>
      </p:sp>
      <p:sp>
        <p:nvSpPr>
          <p:cNvPr id="3" name="Team Badge">
            <a:extLst xmlns:a="http://schemas.openxmlformats.org/drawingml/2006/main">
              <a:ext uri="{FF2B5EF4-FFF2-40B4-BE49-F238E27FC236}">
                <a16:creationId xmlns:a16="http://schemas.microsoft.com/office/drawing/2014/main" id="{0F99A84C-D185-4D9A-8EE5-1B048B47864D}"/>
              </a:ext>
            </a:extLst>
          </p:cNvPr>
          <p:cNvSpPr>
            <a:spLocks xmlns:a="http://schemas.openxmlformats.org/drawingml/2006/main" noGrp="1"/>
          </p:cNvSpPr>
          <p:nvPr/>
        </p:nvSpPr>
        <p:spPr>
          <a:xfrm xmlns:a="http://schemas.openxmlformats.org/drawingml/2006/main">
            <a:off x="457200" y="320040"/>
            <a:ext cx="2606040" cy="822960"/>
          </a:xfrm>
          <a:prstGeom xmlns:a="http://schemas.openxmlformats.org/drawingml/2006/main" prst="roundRect">
            <a:avLst>
              <a:gd name="adj" fmla="val 13333"/>
            </a:avLst>
          </a:prstGeom>
          <a:solidFill xmlns:a="http://schemas.openxmlformats.org/drawingml/2006/main">
            <a:schemeClr val="bg1"/>
          </a:solidFill>
          <a:ln xmlns:a="http://schemas.openxmlformats.org/drawingml/2006/main" w="9525">
            <a:solidFill>
              <a:schemeClr val="accent6"/>
            </a:solidFill>
            <a:prstDash val="solid"/>
          </a:ln>
        </p:spPr>
      </p:sp>
      <p:sp>
        <p:nvSpPr>
          <p:cNvPr id="4" name="Team Icon Hex">
            <a:extLst xmlns:a="http://schemas.openxmlformats.org/drawingml/2006/main">
              <a:ext uri="{FF2B5EF4-FFF2-40B4-BE49-F238E27FC236}">
                <a16:creationId xmlns:a16="http://schemas.microsoft.com/office/drawing/2014/main" id="{D364B9CC-2A00-4A67-93B0-C4F6C309A9B1}"/>
              </a:ext>
            </a:extLst>
          </p:cNvPr>
          <p:cNvSpPr>
            <a:spLocks xmlns:a="http://schemas.openxmlformats.org/drawingml/2006/main" noGrp="1"/>
          </p:cNvSpPr>
          <p:nvPr/>
        </p:nvSpPr>
        <p:spPr>
          <a:xfrm xmlns:a="http://schemas.openxmlformats.org/drawingml/2006/main">
            <a:off x="603504" y="457200"/>
            <a:ext cx="630936" cy="548640"/>
          </a:xfrm>
          <a:prstGeom xmlns:a="http://schemas.openxmlformats.org/drawingml/2006/main" prst="hexagon">
            <a:avLst/>
          </a:prstGeom>
          <a:solidFill xmlns:a="http://schemas.openxmlformats.org/drawingml/2006/main">
            <a:schemeClr val="bg2"/>
          </a:solidFill>
          <a:ln xmlns:a="http://schemas.openxmlformats.org/drawingml/2006/main" w="9525">
            <a:solidFill>
              <a:schemeClr val="accent6"/>
            </a:solidFill>
            <a:prstDash val="solid"/>
          </a:ln>
        </p:spPr>
      </p:sp>
      <p:pic>
        <p:nvPicPr>
          <p:cNvPr id="5" name="Team Icon">
            <a:extLst xmlns:a="http://schemas.openxmlformats.org/drawingml/2006/main">
              <a:ext uri="{FF2B5EF4-FFF2-40B4-BE49-F238E27FC236}">
                <a16:creationId xmlns:a16="http://schemas.microsoft.com/office/drawing/2014/main" id="{2241C3A1-6789-4218-BBC5-0E10123CE6E4}"/>
              </a:ext>
            </a:extLst>
          </p:cNvPr>
          <p:cNvPicPr>
            <a:picLocks xmlns:a="http://schemas.openxmlformats.org/drawingml/2006/main" noChangeAspect="1"/>
          </p:cNvPicPr>
          <p:nvPr/>
        </p:nvPicPr>
        <p:blipFill>
          <a:blip xmlns:r="http://schemas.openxmlformats.org/officeDocument/2006/relationships" xmlns:a="http://schemas.openxmlformats.org/drawingml/2006/main" r:embed="Ra4e589c21b2d4592"/>
          <a:stretch xmlns:a="http://schemas.openxmlformats.org/drawingml/2006/main">
            <a:fillRect l="0" t="0" r="0" b="0"/>
          </a:stretch>
        </p:blipFill>
        <p:spPr>
          <a:xfrm xmlns:a="http://schemas.openxmlformats.org/drawingml/2006/main">
            <a:off x="736092" y="548640"/>
            <a:ext cx="365760" cy="365760"/>
          </a:xfrm>
          <a:prstGeom xmlns:a="http://schemas.openxmlformats.org/drawingml/2006/main" prst="rect">
            <a:avLst/>
          </a:prstGeom>
        </p:spPr>
      </p:pic>
      <p:sp>
        <p:nvSpPr>
          <p:cNvPr id="6" name="Team Name">
            <a:extLst xmlns:a="http://schemas.openxmlformats.org/drawingml/2006/main">
              <a:ext uri="{FF2B5EF4-FFF2-40B4-BE49-F238E27FC236}">
                <a16:creationId xmlns:a16="http://schemas.microsoft.com/office/drawing/2014/main" id="{61B02E5C-81F3-4B08-98BD-A581F69D5ABB}"/>
              </a:ext>
            </a:extLst>
          </p:cNvPr>
          <p:cNvSpPr>
            <a:spLocks xmlns:a="http://schemas.openxmlformats.org/drawingml/2006/main" noGrp="1"/>
          </p:cNvSpPr>
          <p:nvPr/>
        </p:nvSpPr>
        <p:spPr>
          <a:xfrm xmlns:a="http://schemas.openxmlformats.org/drawingml/2006/main">
            <a:off x="1371600" y="384048"/>
            <a:ext cx="162763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spc="300">
                <a:solidFill>
                  <a:schemeClr val="accent5"/>
                </a:solidFill>
              </a:rPr>
              <a:t>TEAM</a:t>
            </a:r>
            <a:endParaRPr sz="900"/>
          </a:p>
          <a:p xmlns:a="http://schemas.openxmlformats.org/drawingml/2006/main">
            <a:pPr marL="0" indent="0">
              <a:buNone/>
            </a:pPr>
            <a:r>
              <a:rPr sz="1500" b="1">
                <a:solidFill>
                  <a:schemeClr val="accent1"/>
                </a:solidFill>
              </a:rPr>
              <a:t>Anthara</a:t>
            </a:r>
            <a:endParaRPr sz="900"/>
          </a:p>
        </p:txBody>
      </p:sp>
      <p:sp>
        <p:nvSpPr>
          <p:cNvPr id="7" name="Lead Icon Hex">
            <a:extLst xmlns:a="http://schemas.openxmlformats.org/drawingml/2006/main">
              <a:ext uri="{FF2B5EF4-FFF2-40B4-BE49-F238E27FC236}">
                <a16:creationId xmlns:a16="http://schemas.microsoft.com/office/drawing/2014/main" id="{D7C0525E-4CDA-4B7F-81F3-DEF94F80D53C}"/>
              </a:ext>
            </a:extLst>
          </p:cNvPr>
          <p:cNvSpPr>
            <a:spLocks xmlns:a="http://schemas.openxmlformats.org/drawingml/2006/main" noGrp="1"/>
          </p:cNvSpPr>
          <p:nvPr/>
        </p:nvSpPr>
        <p:spPr>
          <a:xfrm xmlns:a="http://schemas.openxmlformats.org/drawingml/2006/main">
            <a:off x="548640" y="1463040"/>
            <a:ext cx="457200" cy="395935"/>
          </a:xfrm>
          <a:prstGeom xmlns:a="http://schemas.openxmlformats.org/drawingml/2006/main" prst="hexagon">
            <a:avLst/>
          </a:prstGeom>
          <a:solidFill xmlns:a="http://schemas.openxmlformats.org/drawingml/2006/main">
            <a:schemeClr val="accent3"/>
          </a:solidFill>
        </p:spPr>
      </p:sp>
      <p:pic>
        <p:nvPicPr>
          <p:cNvPr id="8" name="Lead Icon">
            <a:extLst xmlns:a="http://schemas.openxmlformats.org/drawingml/2006/main">
              <a:ext uri="{FF2B5EF4-FFF2-40B4-BE49-F238E27FC236}">
                <a16:creationId xmlns:a16="http://schemas.microsoft.com/office/drawing/2014/main" id="{2CA80D89-8C3E-4DB9-BEDF-37990B31F921}"/>
              </a:ext>
            </a:extLst>
          </p:cNvPr>
          <p:cNvPicPr>
            <a:picLocks xmlns:a="http://schemas.openxmlformats.org/drawingml/2006/main" noChangeAspect="1"/>
          </p:cNvPicPr>
          <p:nvPr/>
        </p:nvPicPr>
        <p:blipFill>
          <a:blip xmlns:r="http://schemas.openxmlformats.org/officeDocument/2006/relationships" xmlns:a="http://schemas.openxmlformats.org/drawingml/2006/main" r:embed="Rdb1cb992b67445a3"/>
          <a:stretch xmlns:a="http://schemas.openxmlformats.org/drawingml/2006/main">
            <a:fillRect l="0" t="0" r="0" b="0"/>
          </a:stretch>
        </p:blipFill>
        <p:spPr>
          <a:xfrm xmlns:a="http://schemas.openxmlformats.org/drawingml/2006/main">
            <a:off x="640080" y="1523390"/>
            <a:ext cx="274320" cy="274320"/>
          </a:xfrm>
          <a:prstGeom xmlns:a="http://schemas.openxmlformats.org/drawingml/2006/main" prst="rect">
            <a:avLst/>
          </a:prstGeom>
        </p:spPr>
      </p:pic>
      <p:sp>
        <p:nvSpPr>
          <p:cNvPr id="9" name="Lead Text">
            <a:extLst xmlns:a="http://schemas.openxmlformats.org/drawingml/2006/main">
              <a:ext uri="{FF2B5EF4-FFF2-40B4-BE49-F238E27FC236}">
                <a16:creationId xmlns:a16="http://schemas.microsoft.com/office/drawing/2014/main" id="{DDF0662A-1666-4519-8A4D-93B8BFBCE5CB}"/>
              </a:ext>
            </a:extLst>
          </p:cNvPr>
          <p:cNvSpPr>
            <a:spLocks xmlns:a="http://schemas.openxmlformats.org/drawingml/2006/main" noGrp="1"/>
          </p:cNvSpPr>
          <p:nvPr/>
        </p:nvSpPr>
        <p:spPr>
          <a:xfrm xmlns:a="http://schemas.openxmlformats.org/drawingml/2006/main">
            <a:off x="1170432" y="1417320"/>
            <a:ext cx="9601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800" b="1">
                <a:solidFill>
                  <a:srgbClr val="094542"/>
                </a:solidFill>
                <a:latin typeface="Calibri"/>
                <a:ea typeface="Calibri"/>
                <a:cs typeface="Calibri"/>
              </a:defRPr>
            </a:defPPr>
          </a:lstStyle>
          <a:p xmlns:a="http://schemas.openxmlformats.org/drawingml/2006/main">
            <a:pPr marL="0" indent="0">
              <a:buNone/>
              <a:defRPr sz="1800" b="1">
                <a:solidFill>
                  <a:srgbClr val="094542"/>
                </a:solidFill>
                <a:latin typeface="Calibri"/>
                <a:ea typeface="Calibri"/>
                <a:cs typeface="Calibri"/>
              </a:defRPr>
            </a:pPr>
            <a:r>
              <a:rPr sz="1800" b="1">
                <a:solidFill>
                  <a:srgbClr val="094542"/>
                </a:solidFill>
                <a:latin typeface="Calibri"/>
                <a:ea typeface="Calibri"/>
                <a:cs typeface="Calibri"/>
              </a:rPr>
              <a:t>Useful services exist, but families must still connect the steps</a:t>
            </a:r>
            <a:endParaRPr sz="1800"/>
          </a:p>
        </p:txBody>
      </p:sp>
      <p:sp>
        <p:nvSpPr>
          <p:cNvPr id="10" name="Prompts">
            <a:extLst xmlns:a="http://schemas.openxmlformats.org/drawingml/2006/main">
              <a:ext uri="{FF2B5EF4-FFF2-40B4-BE49-F238E27FC236}">
                <a16:creationId xmlns:a16="http://schemas.microsoft.com/office/drawing/2014/main" id="{E9C4B5BC-9247-45C6-98BA-CE6801AA6321}"/>
              </a:ext>
            </a:extLst>
          </p:cNvPr>
          <p:cNvSpPr>
            <a:spLocks xmlns:a="http://schemas.openxmlformats.org/drawingml/2006/main" noGrp="1"/>
          </p:cNvSpPr>
          <p:nvPr/>
        </p:nvSpPr>
        <p:spPr>
          <a:xfrm xmlns:a="http://schemas.openxmlformats.org/drawingml/2006/main">
            <a:off x="868680" y="2148840"/>
            <a:ext cx="1042416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800">
                <a:solidFill>
                  <a:srgbClr val="0E2A2F"/>
                </a:solidFill>
                <a:latin typeface="Calibri"/>
                <a:ea typeface="Calibri"/>
                <a:cs typeface="Calibri"/>
              </a:defRPr>
            </a:defPPr>
          </a:lstStyle>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PM-JAY and other support schemes: </a:t>
            </a:r>
            <a:r>
              <a:rPr sz="1800" b="0">
                <a:solidFill>
                  <a:srgbClr val="0E2A2F"/>
                </a:solidFill>
                <a:latin typeface="Calibri"/>
                <a:ea typeface="Calibri"/>
                <a:cs typeface="Calibri"/>
              </a:rPr>
              <a:t>Eligible patients can receive covered hospital care. The family still needs to confirm eligibility, the treatment package and any remaining expenses.</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eSanjeevani: </a:t>
            </a:r>
            <a:r>
              <a:rPr sz="1800" b="0">
                <a:solidFill>
                  <a:srgbClr val="0E2A2F"/>
                </a:solidFill>
                <a:latin typeface="Calibri"/>
                <a:ea typeface="Calibri"/>
                <a:cs typeface="Calibri"/>
              </a:rPr>
              <a:t>Teleconsultation helps people reach clinical advice. In-person care may still need separate service, cost and travel arrangements.</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Unite Us and hospital navigators: </a:t>
            </a:r>
            <a:r>
              <a:rPr sz="1800" b="0">
                <a:solidFill>
                  <a:srgbClr val="0E2A2F"/>
                </a:solidFill>
                <a:latin typeface="Calibri"/>
                <a:ea typeface="Calibri"/>
                <a:cs typeface="Calibri"/>
              </a:rPr>
              <a:t>Closed-loop referral tools already track referrals and outcomes. Hospital social workers help coordinate support. We would learn from these approaches.</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Our gap to test:</a:t>
            </a:r>
            <a:r>
              <a:rPr sz="1800" b="0">
                <a:solidFill>
                  <a:srgbClr val="0E2A2F"/>
                </a:solidFill>
                <a:latin typeface="Calibri"/>
                <a:ea typeface="Calibri"/>
                <a:cs typeface="Calibri"/>
              </a:rPr>
              <a:t> </a:t>
            </a:r>
            <a:r>
              <a:rPr sz="1800" b="0">
                <a:solidFill>
                  <a:srgbClr val="0E2A2F"/>
                </a:solidFill>
                <a:latin typeface="Calibri"/>
                <a:ea typeface="Calibri"/>
                <a:cs typeface="Calibri"/>
              </a:rPr>
              <a:t>One clinic’s referral process, with a readiness checklist and staff follow-up on barriers. First test whether this helps families and staff more than a paper checklist or spreadsheet.</a:t>
            </a:r>
          </a:p>
        </p:txBody>
      </p:sp>
      <p:sp>
        <p:nvSpPr>
          <p:cNvPr id="25" name="Slide Number Placeholder 0">
            <a:extLst xmlns:a="http://schemas.openxmlformats.org/drawingml/2006/main">
              <a:ext uri="{FF2B5EF4-FFF2-40B4-BE49-F238E27FC236}">
                <a16:creationId xmlns:a16="http://schemas.microsoft.com/office/drawing/2014/main" id="{68CC26C4-2CD3-4757-B35D-2DC256F4A91B}"/>
              </a:ext>
            </a:extLst>
          </p:cNvPr>
          <p:cNvSpPr>
            <a:spLocks xmlns:a="http://schemas.openxmlformats.org/drawingml/2006/main" noGrp="1"/>
          </p:cNvSpPr>
          <p:nvPr>
            <p:ph type="sldNum" idx="4294967295"/>
          </p:nvPr>
        </p:nvSpPr>
        <p:spPr>
          <a:xfrm xmlns:a="http://schemas.openxmlformats.org/drawingml/2006/main">
            <a:off x="11259007" y="6409944"/>
            <a:ext cx="457200" cy="395935"/>
          </a:xfrm>
          <a:prstGeom xmlns:a="http://schemas.openxmlformats.org/drawingml/2006/main" prst="rect">
            <a:avLst/>
          </a:prstGeom>
        </p:spPr>
        <p:txBody>
          <a:bodyPr xmlns:a="http://schemas.openxmlformats.org/drawingml/2006/main" lIns="0" tIns="0" rIns="0" bIns="0" anchor="ctr"/>
          <a:lstStyle xmlns:a="http://schemas.openxmlformats.org/drawingml/2006/main">
            <a:lvl1pPr>
              <a:buNone/>
              <a:defRPr sz="1100">
                <a:solidFill>
                  <a:schemeClr val="tx2"/>
                </a:solidFill>
                <a:latin typeface="Calibri"/>
                <a:ea typeface="Calibri"/>
                <a:cs typeface="Calibri"/>
              </a:defRPr>
            </a:lvl1pPr>
          </a:lstStyle>
          <a:p xmlns:a="http://schemas.openxmlformats.org/drawingml/2006/main">
            <a:pPr algn="ctr">
              <a:buNone/>
            </a:pPr>
            <a:fld id="{F7021451-1387-4CA6-816F-3879F97B5CBC}" type="slidenum">
              <a:rPr b="1"/>
              <a:t>6</a:t>
            </a:fld>
            <a:endParaRPr/>
          </a:p>
        </p:txBody>
      </p:sp>
    </p:spTree>
    <p:extLst>
      <p:ext uri="{BB962C8B-B14F-4D97-AF65-F5344CB8AC3E}">
        <p14:creationId xmlns:p14="http://schemas.microsoft.com/office/powerpoint/2010/main" val="175647593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7">
            <a:extLst xmlns:a="http://schemas.openxmlformats.org/drawingml/2006/main">
              <a:ext uri="{FF2B5EF4-FFF2-40B4-BE49-F238E27FC236}">
                <a16:creationId xmlns:a16="http://schemas.microsoft.com/office/drawing/2014/main" id="{188B8534-E67A-4363-B85C-807D490D2B21}"/>
              </a:ext>
            </a:extLst>
          </p:cNvPr>
          <p:cNvSpPr>
            <a:spLocks xmlns:a="http://schemas.openxmlformats.org/drawingml/2006/main" noGrp="1"/>
          </p:cNvSpPr>
          <p:nvPr>
            <p:ph type="title" idx="108" hasCustomPrompt="1"/>
          </p:nvPr>
        </p:nvSpPr>
        <p:spPr>
          <a:xfrm xmlns:a="http://schemas.openxmlformats.org/drawingml/2006/main">
            <a:off x="3246120" y="320040"/>
            <a:ext cx="74980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spc="100">
                <a:solidFill>
                  <a:schemeClr val="tx2"/>
                </a:solidFill>
                <a:latin typeface="Cambria"/>
                <a:ea typeface="Cambria"/>
                <a:cs typeface="Cambria"/>
              </a:rPr>
              <a:t>PROBLEM INSIGHTS &amp; OPPORTUNITY AREAS</a:t>
            </a:r>
            <a:endParaRPr sz="2400"/>
          </a:p>
        </p:txBody>
      </p:sp>
      <p:sp>
        <p:nvSpPr>
          <p:cNvPr id="3" name="Team Badge">
            <a:extLst xmlns:a="http://schemas.openxmlformats.org/drawingml/2006/main">
              <a:ext uri="{FF2B5EF4-FFF2-40B4-BE49-F238E27FC236}">
                <a16:creationId xmlns:a16="http://schemas.microsoft.com/office/drawing/2014/main" id="{3C481DBE-4981-4B39-A340-9580CD6F7A97}"/>
              </a:ext>
            </a:extLst>
          </p:cNvPr>
          <p:cNvSpPr>
            <a:spLocks xmlns:a="http://schemas.openxmlformats.org/drawingml/2006/main" noGrp="1"/>
          </p:cNvSpPr>
          <p:nvPr/>
        </p:nvSpPr>
        <p:spPr>
          <a:xfrm xmlns:a="http://schemas.openxmlformats.org/drawingml/2006/main">
            <a:off x="457200" y="320040"/>
            <a:ext cx="2606040" cy="822960"/>
          </a:xfrm>
          <a:prstGeom xmlns:a="http://schemas.openxmlformats.org/drawingml/2006/main" prst="roundRect">
            <a:avLst>
              <a:gd name="adj" fmla="val 13333"/>
            </a:avLst>
          </a:prstGeom>
          <a:solidFill xmlns:a="http://schemas.openxmlformats.org/drawingml/2006/main">
            <a:schemeClr val="bg1"/>
          </a:solidFill>
          <a:ln xmlns:a="http://schemas.openxmlformats.org/drawingml/2006/main" w="9525">
            <a:solidFill>
              <a:schemeClr val="accent6"/>
            </a:solidFill>
            <a:prstDash val="solid"/>
          </a:ln>
        </p:spPr>
      </p:sp>
      <p:sp>
        <p:nvSpPr>
          <p:cNvPr id="4" name="Team Icon Hex">
            <a:extLst xmlns:a="http://schemas.openxmlformats.org/drawingml/2006/main">
              <a:ext uri="{FF2B5EF4-FFF2-40B4-BE49-F238E27FC236}">
                <a16:creationId xmlns:a16="http://schemas.microsoft.com/office/drawing/2014/main" id="{5E175CB7-D3E0-415E-97BA-96FA10B375F9}"/>
              </a:ext>
            </a:extLst>
          </p:cNvPr>
          <p:cNvSpPr>
            <a:spLocks xmlns:a="http://schemas.openxmlformats.org/drawingml/2006/main" noGrp="1"/>
          </p:cNvSpPr>
          <p:nvPr/>
        </p:nvSpPr>
        <p:spPr>
          <a:xfrm xmlns:a="http://schemas.openxmlformats.org/drawingml/2006/main">
            <a:off x="603504" y="457200"/>
            <a:ext cx="630936" cy="548640"/>
          </a:xfrm>
          <a:prstGeom xmlns:a="http://schemas.openxmlformats.org/drawingml/2006/main" prst="hexagon">
            <a:avLst/>
          </a:prstGeom>
          <a:solidFill xmlns:a="http://schemas.openxmlformats.org/drawingml/2006/main">
            <a:schemeClr val="bg2"/>
          </a:solidFill>
          <a:ln xmlns:a="http://schemas.openxmlformats.org/drawingml/2006/main" w="9525">
            <a:solidFill>
              <a:schemeClr val="accent6"/>
            </a:solidFill>
            <a:prstDash val="solid"/>
          </a:ln>
        </p:spPr>
      </p:sp>
      <p:pic>
        <p:nvPicPr>
          <p:cNvPr id="5" name="Team Icon">
            <a:extLst xmlns:a="http://schemas.openxmlformats.org/drawingml/2006/main">
              <a:ext uri="{FF2B5EF4-FFF2-40B4-BE49-F238E27FC236}">
                <a16:creationId xmlns:a16="http://schemas.microsoft.com/office/drawing/2014/main" id="{78F80CD6-0832-49DB-BAB2-A7346847B74C}"/>
              </a:ext>
            </a:extLst>
          </p:cNvPr>
          <p:cNvPicPr>
            <a:picLocks xmlns:a="http://schemas.openxmlformats.org/drawingml/2006/main" noChangeAspect="1"/>
          </p:cNvPicPr>
          <p:nvPr/>
        </p:nvPicPr>
        <p:blipFill>
          <a:blip xmlns:r="http://schemas.openxmlformats.org/officeDocument/2006/relationships" xmlns:a="http://schemas.openxmlformats.org/drawingml/2006/main" r:embed="R682002241c304f1c"/>
          <a:stretch xmlns:a="http://schemas.openxmlformats.org/drawingml/2006/main">
            <a:fillRect l="0" t="0" r="0" b="0"/>
          </a:stretch>
        </p:blipFill>
        <p:spPr>
          <a:xfrm xmlns:a="http://schemas.openxmlformats.org/drawingml/2006/main">
            <a:off x="736092" y="548640"/>
            <a:ext cx="365760" cy="365760"/>
          </a:xfrm>
          <a:prstGeom xmlns:a="http://schemas.openxmlformats.org/drawingml/2006/main" prst="rect">
            <a:avLst/>
          </a:prstGeom>
        </p:spPr>
      </p:pic>
      <p:sp>
        <p:nvSpPr>
          <p:cNvPr id="6" name="Team Name">
            <a:extLst xmlns:a="http://schemas.openxmlformats.org/drawingml/2006/main">
              <a:ext uri="{FF2B5EF4-FFF2-40B4-BE49-F238E27FC236}">
                <a16:creationId xmlns:a16="http://schemas.microsoft.com/office/drawing/2014/main" id="{0588DCE9-3F17-48C5-AD3C-A1286B1AE0C4}"/>
              </a:ext>
            </a:extLst>
          </p:cNvPr>
          <p:cNvSpPr>
            <a:spLocks xmlns:a="http://schemas.openxmlformats.org/drawingml/2006/main" noGrp="1"/>
          </p:cNvSpPr>
          <p:nvPr/>
        </p:nvSpPr>
        <p:spPr>
          <a:xfrm xmlns:a="http://schemas.openxmlformats.org/drawingml/2006/main">
            <a:off x="1371600" y="384048"/>
            <a:ext cx="162763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spc="300">
                <a:solidFill>
                  <a:schemeClr val="accent5"/>
                </a:solidFill>
              </a:rPr>
              <a:t>TEAM</a:t>
            </a:r>
            <a:endParaRPr sz="900"/>
          </a:p>
          <a:p xmlns:a="http://schemas.openxmlformats.org/drawingml/2006/main">
            <a:pPr marL="0" indent="0">
              <a:buNone/>
            </a:pPr>
            <a:r>
              <a:rPr sz="1500" b="1">
                <a:solidFill>
                  <a:schemeClr val="accent1"/>
                </a:solidFill>
              </a:rPr>
              <a:t>Anthara</a:t>
            </a:r>
            <a:endParaRPr sz="900"/>
          </a:p>
        </p:txBody>
      </p:sp>
      <p:sp>
        <p:nvSpPr>
          <p:cNvPr id="7" name="Lead Icon Hex">
            <a:extLst xmlns:a="http://schemas.openxmlformats.org/drawingml/2006/main">
              <a:ext uri="{FF2B5EF4-FFF2-40B4-BE49-F238E27FC236}">
                <a16:creationId xmlns:a16="http://schemas.microsoft.com/office/drawing/2014/main" id="{BDDD82A6-F29A-4291-8425-23390BE670F9}"/>
              </a:ext>
            </a:extLst>
          </p:cNvPr>
          <p:cNvSpPr>
            <a:spLocks xmlns:a="http://schemas.openxmlformats.org/drawingml/2006/main" noGrp="1"/>
          </p:cNvSpPr>
          <p:nvPr/>
        </p:nvSpPr>
        <p:spPr>
          <a:xfrm xmlns:a="http://schemas.openxmlformats.org/drawingml/2006/main">
            <a:off x="548640" y="1463040"/>
            <a:ext cx="457200" cy="395935"/>
          </a:xfrm>
          <a:prstGeom xmlns:a="http://schemas.openxmlformats.org/drawingml/2006/main" prst="hexagon">
            <a:avLst/>
          </a:prstGeom>
          <a:solidFill xmlns:a="http://schemas.openxmlformats.org/drawingml/2006/main">
            <a:schemeClr val="accent3"/>
          </a:solidFill>
        </p:spPr>
      </p:sp>
      <p:pic>
        <p:nvPicPr>
          <p:cNvPr id="8" name="Lead Icon">
            <a:extLst xmlns:a="http://schemas.openxmlformats.org/drawingml/2006/main">
              <a:ext uri="{FF2B5EF4-FFF2-40B4-BE49-F238E27FC236}">
                <a16:creationId xmlns:a16="http://schemas.microsoft.com/office/drawing/2014/main" id="{A30EA403-4C4E-4487-B77F-D5B32F72072E}"/>
              </a:ext>
            </a:extLst>
          </p:cNvPr>
          <p:cNvPicPr>
            <a:picLocks xmlns:a="http://schemas.openxmlformats.org/drawingml/2006/main" noChangeAspect="1"/>
          </p:cNvPicPr>
          <p:nvPr/>
        </p:nvPicPr>
        <p:blipFill>
          <a:blip xmlns:r="http://schemas.openxmlformats.org/officeDocument/2006/relationships" xmlns:a="http://schemas.openxmlformats.org/drawingml/2006/main" r:embed="Rd6ecb901a1344ddf"/>
          <a:stretch xmlns:a="http://schemas.openxmlformats.org/drawingml/2006/main">
            <a:fillRect l="0" t="0" r="0" b="0"/>
          </a:stretch>
        </p:blipFill>
        <p:spPr>
          <a:xfrm xmlns:a="http://schemas.openxmlformats.org/drawingml/2006/main">
            <a:off x="640080" y="1523390"/>
            <a:ext cx="274320" cy="274320"/>
          </a:xfrm>
          <a:prstGeom xmlns:a="http://schemas.openxmlformats.org/drawingml/2006/main" prst="rect">
            <a:avLst/>
          </a:prstGeom>
        </p:spPr>
      </p:pic>
      <p:sp>
        <p:nvSpPr>
          <p:cNvPr id="9" name="Lead Text">
            <a:extLst xmlns:a="http://schemas.openxmlformats.org/drawingml/2006/main">
              <a:ext uri="{FF2B5EF4-FFF2-40B4-BE49-F238E27FC236}">
                <a16:creationId xmlns:a16="http://schemas.microsoft.com/office/drawing/2014/main" id="{276BBCF0-D319-4AE9-8202-8FA8148B5EC5}"/>
              </a:ext>
            </a:extLst>
          </p:cNvPr>
          <p:cNvSpPr>
            <a:spLocks xmlns:a="http://schemas.openxmlformats.org/drawingml/2006/main" noGrp="1"/>
          </p:cNvSpPr>
          <p:nvPr/>
        </p:nvSpPr>
        <p:spPr>
          <a:xfrm xmlns:a="http://schemas.openxmlformats.org/drawingml/2006/main">
            <a:off x="1170432" y="1417320"/>
            <a:ext cx="9601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800" b="1">
                <a:solidFill>
                  <a:srgbClr val="094542"/>
                </a:solidFill>
                <a:latin typeface="Calibri"/>
                <a:ea typeface="Calibri"/>
                <a:cs typeface="Calibri"/>
              </a:defRPr>
            </a:defPPr>
          </a:lstStyle>
          <a:p xmlns:a="http://schemas.openxmlformats.org/drawingml/2006/main">
            <a:pPr marL="0" indent="0">
              <a:buNone/>
              <a:defRPr sz="1800" b="1">
                <a:solidFill>
                  <a:srgbClr val="094542"/>
                </a:solidFill>
                <a:latin typeface="Calibri"/>
                <a:ea typeface="Calibri"/>
                <a:cs typeface="Calibri"/>
              </a:defRPr>
            </a:pPr>
            <a:r>
              <a:rPr sz="1800" b="1">
                <a:solidFill>
                  <a:srgbClr val="094542"/>
                </a:solidFill>
                <a:latin typeface="Calibri"/>
                <a:ea typeface="Calibri"/>
                <a:cs typeface="Calibri"/>
              </a:rPr>
              <a:t>Resources and roles for a focused student prototype</a:t>
            </a:r>
            <a:endParaRPr sz="1800"/>
          </a:p>
        </p:txBody>
      </p:sp>
      <p:sp>
        <p:nvSpPr>
          <p:cNvPr id="10" name="Prompts">
            <a:extLst xmlns:a="http://schemas.openxmlformats.org/drawingml/2006/main">
              <a:ext uri="{FF2B5EF4-FFF2-40B4-BE49-F238E27FC236}">
                <a16:creationId xmlns:a16="http://schemas.microsoft.com/office/drawing/2014/main" id="{66D980FF-DE9F-49A9-BACB-6E3133282100}"/>
              </a:ext>
            </a:extLst>
          </p:cNvPr>
          <p:cNvSpPr>
            <a:spLocks xmlns:a="http://schemas.openxmlformats.org/drawingml/2006/main" noGrp="1"/>
          </p:cNvSpPr>
          <p:nvPr/>
        </p:nvSpPr>
        <p:spPr>
          <a:xfrm xmlns:a="http://schemas.openxmlformats.org/drawingml/2006/main">
            <a:off x="868680" y="2148840"/>
            <a:ext cx="1042416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800">
                <a:solidFill>
                  <a:srgbClr val="0E2A2F"/>
                </a:solidFill>
                <a:latin typeface="Calibri"/>
                <a:ea typeface="Calibri"/>
                <a:cs typeface="Calibri"/>
              </a:defRPr>
            </a:defPPr>
          </a:lstStyle>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Hardware: </a:t>
            </a:r>
            <a:r>
              <a:rPr sz="1800" b="0">
                <a:solidFill>
                  <a:srgbClr val="0E2A2F"/>
                </a:solidFill>
                <a:latin typeface="Calibri"/>
                <a:ea typeface="Calibri"/>
                <a:cs typeface="Calibri"/>
              </a:rPr>
              <a:t>Existing phones and one clinic computer. Keep pages light, offer a printed checklist and allow staff-assisted use. No new medical equipment is needed.</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Software: </a:t>
            </a:r>
            <a:r>
              <a:rPr sz="1800" b="0">
                <a:solidFill>
                  <a:srgbClr val="0E2A2F"/>
                </a:solidFill>
                <a:latin typeface="Calibri"/>
                <a:ea typeface="Calibri"/>
                <a:cs typeface="Calibri"/>
              </a:rPr>
              <a:t>A bilingual website with a patient checklist, staff issue queue and service-outcome log. Use a basic database. Hospital integration and multi-hospital comparison are outside the first version.</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Reliable data: </a:t>
            </a:r>
            <a:r>
              <a:rPr sz="1800" b="0">
                <a:solidFill>
                  <a:srgbClr val="0E2A2F"/>
                </a:solidFill>
                <a:latin typeface="Calibri"/>
                <a:ea typeface="Calibri"/>
                <a:cs typeface="Calibri"/>
              </a:rPr>
              <a:t>One clinic-approved visit template, with a source, owner and last-checked date. Provider fee ranges are optional estimates. Families supply travel estimates. Keep unknown costs and lost income separate.</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People and safeguards: </a:t>
            </a:r>
            <a:r>
              <a:rPr sz="1800" b="0">
                <a:solidFill>
                  <a:srgbClr val="0E2A2F"/>
                </a:solidFill>
                <a:latin typeface="Calibri"/>
                <a:ea typeface="Calibri"/>
                <a:cs typeface="Calibri"/>
              </a:rPr>
              <a:t>Four students could share interface, database, testing and coordination work. A clinic staff owner and faculty or clinical adviser must review the workflow. Consent, restricted access and institutional approval precede real patient use.</a:t>
            </a:r>
          </a:p>
        </p:txBody>
      </p:sp>
      <p:sp>
        <p:nvSpPr>
          <p:cNvPr id="25" name="Slide Number Placeholder 0">
            <a:extLst xmlns:a="http://schemas.openxmlformats.org/drawingml/2006/main">
              <a:ext uri="{FF2B5EF4-FFF2-40B4-BE49-F238E27FC236}">
                <a16:creationId xmlns:a16="http://schemas.microsoft.com/office/drawing/2014/main" id="{FC7535E0-9652-4A78-AB8B-8B104D2FD637}"/>
              </a:ext>
            </a:extLst>
          </p:cNvPr>
          <p:cNvSpPr>
            <a:spLocks xmlns:a="http://schemas.openxmlformats.org/drawingml/2006/main" noGrp="1"/>
          </p:cNvSpPr>
          <p:nvPr>
            <p:ph type="sldNum" idx="4294967295"/>
          </p:nvPr>
        </p:nvSpPr>
        <p:spPr>
          <a:xfrm xmlns:a="http://schemas.openxmlformats.org/drawingml/2006/main">
            <a:off x="11259007" y="6409944"/>
            <a:ext cx="457200" cy="395935"/>
          </a:xfrm>
          <a:prstGeom xmlns:a="http://schemas.openxmlformats.org/drawingml/2006/main" prst="rect">
            <a:avLst/>
          </a:prstGeom>
        </p:spPr>
        <p:txBody>
          <a:bodyPr xmlns:a="http://schemas.openxmlformats.org/drawingml/2006/main" lIns="0" tIns="0" rIns="0" bIns="0" anchor="ctr"/>
          <a:lstStyle xmlns:a="http://schemas.openxmlformats.org/drawingml/2006/main">
            <a:lvl1pPr>
              <a:buNone/>
              <a:defRPr sz="1100">
                <a:solidFill>
                  <a:schemeClr val="tx2"/>
                </a:solidFill>
                <a:latin typeface="Calibri"/>
                <a:ea typeface="Calibri"/>
                <a:cs typeface="Calibri"/>
              </a:defRPr>
            </a:lvl1pPr>
          </a:lstStyle>
          <a:p xmlns:a="http://schemas.openxmlformats.org/drawingml/2006/main">
            <a:pPr algn="ctr">
              <a:buNone/>
            </a:pPr>
            <a:fld id="{F7021451-1387-4CA6-816F-3879F97B5CBC}" type="slidenum">
              <a:rPr b="1"/>
              <a:t>7</a:t>
            </a:fld>
            <a:endParaRPr/>
          </a:p>
        </p:txBody>
      </p:sp>
    </p:spTree>
    <p:extLst>
      <p:ext uri="{BB962C8B-B14F-4D97-AF65-F5344CB8AC3E}">
        <p14:creationId xmlns:p14="http://schemas.microsoft.com/office/powerpoint/2010/main" val="21491562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7">
            <a:extLst xmlns:a="http://schemas.openxmlformats.org/drawingml/2006/main">
              <a:ext uri="{FF2B5EF4-FFF2-40B4-BE49-F238E27FC236}">
                <a16:creationId xmlns:a16="http://schemas.microsoft.com/office/drawing/2014/main" id="{51EB6933-3A99-4AF3-BD25-FB1391C6B78D}"/>
              </a:ext>
            </a:extLst>
          </p:cNvPr>
          <p:cNvSpPr>
            <a:spLocks xmlns:a="http://schemas.openxmlformats.org/drawingml/2006/main" noGrp="1"/>
          </p:cNvSpPr>
          <p:nvPr>
            <p:ph type="title" idx="108" hasCustomPrompt="1"/>
          </p:nvPr>
        </p:nvSpPr>
        <p:spPr>
          <a:xfrm xmlns:a="http://schemas.openxmlformats.org/drawingml/2006/main">
            <a:off x="3246120" y="320040"/>
            <a:ext cx="74980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spc="100">
                <a:solidFill>
                  <a:schemeClr val="tx2"/>
                </a:solidFill>
                <a:latin typeface="Cambria"/>
                <a:ea typeface="Cambria"/>
                <a:cs typeface="Cambria"/>
              </a:rPr>
              <a:t>INITIAL DIRECTION &amp; EXPECTED OUTCOME</a:t>
            </a:r>
            <a:endParaRPr sz="2400"/>
          </a:p>
        </p:txBody>
      </p:sp>
      <p:sp>
        <p:nvSpPr>
          <p:cNvPr id="3" name="Team Badge">
            <a:extLst xmlns:a="http://schemas.openxmlformats.org/drawingml/2006/main">
              <a:ext uri="{FF2B5EF4-FFF2-40B4-BE49-F238E27FC236}">
                <a16:creationId xmlns:a16="http://schemas.microsoft.com/office/drawing/2014/main" id="{BC16BB93-2BDD-4B52-A9CC-42D30F77978D}"/>
              </a:ext>
            </a:extLst>
          </p:cNvPr>
          <p:cNvSpPr>
            <a:spLocks xmlns:a="http://schemas.openxmlformats.org/drawingml/2006/main" noGrp="1"/>
          </p:cNvSpPr>
          <p:nvPr/>
        </p:nvSpPr>
        <p:spPr>
          <a:xfrm xmlns:a="http://schemas.openxmlformats.org/drawingml/2006/main">
            <a:off x="457200" y="320040"/>
            <a:ext cx="2606040" cy="822960"/>
          </a:xfrm>
          <a:prstGeom xmlns:a="http://schemas.openxmlformats.org/drawingml/2006/main" prst="roundRect">
            <a:avLst>
              <a:gd name="adj" fmla="val 13333"/>
            </a:avLst>
          </a:prstGeom>
          <a:solidFill xmlns:a="http://schemas.openxmlformats.org/drawingml/2006/main">
            <a:schemeClr val="bg1"/>
          </a:solidFill>
          <a:ln xmlns:a="http://schemas.openxmlformats.org/drawingml/2006/main" w="9525">
            <a:solidFill>
              <a:schemeClr val="accent6"/>
            </a:solidFill>
            <a:prstDash val="solid"/>
          </a:ln>
        </p:spPr>
      </p:sp>
      <p:sp>
        <p:nvSpPr>
          <p:cNvPr id="4" name="Team Icon Hex">
            <a:extLst xmlns:a="http://schemas.openxmlformats.org/drawingml/2006/main">
              <a:ext uri="{FF2B5EF4-FFF2-40B4-BE49-F238E27FC236}">
                <a16:creationId xmlns:a16="http://schemas.microsoft.com/office/drawing/2014/main" id="{FA560A09-8F69-447B-8A4D-73249C1C41AA}"/>
              </a:ext>
            </a:extLst>
          </p:cNvPr>
          <p:cNvSpPr>
            <a:spLocks xmlns:a="http://schemas.openxmlformats.org/drawingml/2006/main" noGrp="1"/>
          </p:cNvSpPr>
          <p:nvPr/>
        </p:nvSpPr>
        <p:spPr>
          <a:xfrm xmlns:a="http://schemas.openxmlformats.org/drawingml/2006/main">
            <a:off x="603504" y="457200"/>
            <a:ext cx="630936" cy="548640"/>
          </a:xfrm>
          <a:prstGeom xmlns:a="http://schemas.openxmlformats.org/drawingml/2006/main" prst="hexagon">
            <a:avLst/>
          </a:prstGeom>
          <a:solidFill xmlns:a="http://schemas.openxmlformats.org/drawingml/2006/main">
            <a:schemeClr val="bg2"/>
          </a:solidFill>
          <a:ln xmlns:a="http://schemas.openxmlformats.org/drawingml/2006/main" w="9525">
            <a:solidFill>
              <a:schemeClr val="accent6"/>
            </a:solidFill>
            <a:prstDash val="solid"/>
          </a:ln>
        </p:spPr>
      </p:sp>
      <p:pic>
        <p:nvPicPr>
          <p:cNvPr id="5" name="Team Icon">
            <a:extLst xmlns:a="http://schemas.openxmlformats.org/drawingml/2006/main">
              <a:ext uri="{FF2B5EF4-FFF2-40B4-BE49-F238E27FC236}">
                <a16:creationId xmlns:a16="http://schemas.microsoft.com/office/drawing/2014/main" id="{E32D5899-7107-4F0D-9FF3-96C5FC98A115}"/>
              </a:ext>
            </a:extLst>
          </p:cNvPr>
          <p:cNvPicPr>
            <a:picLocks xmlns:a="http://schemas.openxmlformats.org/drawingml/2006/main" noChangeAspect="1"/>
          </p:cNvPicPr>
          <p:nvPr/>
        </p:nvPicPr>
        <p:blipFill>
          <a:blip xmlns:r="http://schemas.openxmlformats.org/officeDocument/2006/relationships" xmlns:a="http://schemas.openxmlformats.org/drawingml/2006/main" r:embed="R37f5b3a8bba84f2f"/>
          <a:stretch xmlns:a="http://schemas.openxmlformats.org/drawingml/2006/main">
            <a:fillRect l="0" t="0" r="0" b="0"/>
          </a:stretch>
        </p:blipFill>
        <p:spPr>
          <a:xfrm xmlns:a="http://schemas.openxmlformats.org/drawingml/2006/main">
            <a:off x="736092" y="548640"/>
            <a:ext cx="365760" cy="365760"/>
          </a:xfrm>
          <a:prstGeom xmlns:a="http://schemas.openxmlformats.org/drawingml/2006/main" prst="rect">
            <a:avLst/>
          </a:prstGeom>
        </p:spPr>
      </p:pic>
      <p:sp>
        <p:nvSpPr>
          <p:cNvPr id="6" name="Team Name">
            <a:extLst xmlns:a="http://schemas.openxmlformats.org/drawingml/2006/main">
              <a:ext uri="{FF2B5EF4-FFF2-40B4-BE49-F238E27FC236}">
                <a16:creationId xmlns:a16="http://schemas.microsoft.com/office/drawing/2014/main" id="{500047E2-28B1-4C7B-AB21-AD338224DAA1}"/>
              </a:ext>
            </a:extLst>
          </p:cNvPr>
          <p:cNvSpPr>
            <a:spLocks xmlns:a="http://schemas.openxmlformats.org/drawingml/2006/main" noGrp="1"/>
          </p:cNvSpPr>
          <p:nvPr/>
        </p:nvSpPr>
        <p:spPr>
          <a:xfrm xmlns:a="http://schemas.openxmlformats.org/drawingml/2006/main">
            <a:off x="1371600" y="384048"/>
            <a:ext cx="1627632" cy="6949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spc="300">
                <a:solidFill>
                  <a:schemeClr val="accent5"/>
                </a:solidFill>
              </a:rPr>
              <a:t>TEAM</a:t>
            </a:r>
            <a:endParaRPr sz="900"/>
          </a:p>
          <a:p xmlns:a="http://schemas.openxmlformats.org/drawingml/2006/main">
            <a:pPr marL="0" indent="0">
              <a:buNone/>
            </a:pPr>
            <a:r>
              <a:rPr sz="1500" b="1">
                <a:solidFill>
                  <a:schemeClr val="accent1"/>
                </a:solidFill>
              </a:rPr>
              <a:t>Anthara</a:t>
            </a:r>
            <a:endParaRPr sz="900"/>
          </a:p>
        </p:txBody>
      </p:sp>
      <p:sp>
        <p:nvSpPr>
          <p:cNvPr id="7" name="Lead Icon Hex">
            <a:extLst xmlns:a="http://schemas.openxmlformats.org/drawingml/2006/main">
              <a:ext uri="{FF2B5EF4-FFF2-40B4-BE49-F238E27FC236}">
                <a16:creationId xmlns:a16="http://schemas.microsoft.com/office/drawing/2014/main" id="{F5A191A5-FFF6-44D8-A298-1A41FD7501AF}"/>
              </a:ext>
            </a:extLst>
          </p:cNvPr>
          <p:cNvSpPr>
            <a:spLocks xmlns:a="http://schemas.openxmlformats.org/drawingml/2006/main" noGrp="1"/>
          </p:cNvSpPr>
          <p:nvPr/>
        </p:nvSpPr>
        <p:spPr>
          <a:xfrm xmlns:a="http://schemas.openxmlformats.org/drawingml/2006/main">
            <a:off x="548640" y="1463040"/>
            <a:ext cx="457200" cy="395935"/>
          </a:xfrm>
          <a:prstGeom xmlns:a="http://schemas.openxmlformats.org/drawingml/2006/main" prst="hexagon">
            <a:avLst/>
          </a:prstGeom>
          <a:solidFill xmlns:a="http://schemas.openxmlformats.org/drawingml/2006/main">
            <a:schemeClr val="accent3"/>
          </a:solidFill>
        </p:spPr>
      </p:sp>
      <p:pic>
        <p:nvPicPr>
          <p:cNvPr id="8" name="Lead Icon">
            <a:extLst xmlns:a="http://schemas.openxmlformats.org/drawingml/2006/main">
              <a:ext uri="{FF2B5EF4-FFF2-40B4-BE49-F238E27FC236}">
                <a16:creationId xmlns:a16="http://schemas.microsoft.com/office/drawing/2014/main" id="{462006B7-CD39-46A2-9A40-C90226523643}"/>
              </a:ext>
            </a:extLst>
          </p:cNvPr>
          <p:cNvPicPr>
            <a:picLocks xmlns:a="http://schemas.openxmlformats.org/drawingml/2006/main" noChangeAspect="1"/>
          </p:cNvPicPr>
          <p:nvPr/>
        </p:nvPicPr>
        <p:blipFill>
          <a:blip xmlns:r="http://schemas.openxmlformats.org/officeDocument/2006/relationships" xmlns:a="http://schemas.openxmlformats.org/drawingml/2006/main" r:embed="Ra240edcd53ac4604"/>
          <a:stretch xmlns:a="http://schemas.openxmlformats.org/drawingml/2006/main">
            <a:fillRect l="0" t="0" r="0" b="0"/>
          </a:stretch>
        </p:blipFill>
        <p:spPr>
          <a:xfrm xmlns:a="http://schemas.openxmlformats.org/drawingml/2006/main">
            <a:off x="640080" y="1523390"/>
            <a:ext cx="274320" cy="274320"/>
          </a:xfrm>
          <a:prstGeom xmlns:a="http://schemas.openxmlformats.org/drawingml/2006/main" prst="rect">
            <a:avLst/>
          </a:prstGeom>
        </p:spPr>
      </p:pic>
      <p:sp>
        <p:nvSpPr>
          <p:cNvPr id="9" name="Lead Text">
            <a:extLst xmlns:a="http://schemas.openxmlformats.org/drawingml/2006/main">
              <a:ext uri="{FF2B5EF4-FFF2-40B4-BE49-F238E27FC236}">
                <a16:creationId xmlns:a16="http://schemas.microsoft.com/office/drawing/2014/main" id="{C6513C0C-11AA-448D-8174-EC633BD00E3C}"/>
              </a:ext>
            </a:extLst>
          </p:cNvPr>
          <p:cNvSpPr>
            <a:spLocks xmlns:a="http://schemas.openxmlformats.org/drawingml/2006/main" noGrp="1"/>
          </p:cNvSpPr>
          <p:nvPr/>
        </p:nvSpPr>
        <p:spPr>
          <a:xfrm xmlns:a="http://schemas.openxmlformats.org/drawingml/2006/main">
            <a:off x="1170432" y="1417320"/>
            <a:ext cx="9601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800" b="1">
                <a:solidFill>
                  <a:srgbClr val="094542"/>
                </a:solidFill>
                <a:latin typeface="Calibri"/>
                <a:ea typeface="Calibri"/>
                <a:cs typeface="Calibri"/>
              </a:defRPr>
            </a:defPPr>
          </a:lstStyle>
          <a:p xmlns:a="http://schemas.openxmlformats.org/drawingml/2006/main">
            <a:pPr marL="0" indent="0">
              <a:buNone/>
              <a:defRPr sz="1800" b="1">
                <a:solidFill>
                  <a:srgbClr val="094542"/>
                </a:solidFill>
                <a:latin typeface="Calibri"/>
                <a:ea typeface="Calibri"/>
                <a:cs typeface="Calibri"/>
              </a:defRPr>
            </a:pPr>
            <a:r>
              <a:rPr sz="1800" b="1">
                <a:solidFill>
                  <a:srgbClr val="094542"/>
                </a:solidFill>
                <a:latin typeface="Calibri"/>
                <a:ea typeface="Calibri"/>
                <a:cs typeface="Calibri"/>
              </a:rPr>
              <a:t>Anthara CarePath: a proposed visit-readiness and completion tool</a:t>
            </a:r>
            <a:endParaRPr sz="1800"/>
          </a:p>
        </p:txBody>
      </p:sp>
      <p:sp>
        <p:nvSpPr>
          <p:cNvPr id="10" name="Prompts">
            <a:extLst xmlns:a="http://schemas.openxmlformats.org/drawingml/2006/main">
              <a:ext uri="{FF2B5EF4-FFF2-40B4-BE49-F238E27FC236}">
                <a16:creationId xmlns:a16="http://schemas.microsoft.com/office/drawing/2014/main" id="{F1C5666A-1B28-46AD-A76C-CB0B82BAD51B}"/>
              </a:ext>
            </a:extLst>
          </p:cNvPr>
          <p:cNvSpPr>
            <a:spLocks xmlns:a="http://schemas.openxmlformats.org/drawingml/2006/main" noGrp="1"/>
          </p:cNvSpPr>
          <p:nvPr/>
        </p:nvSpPr>
        <p:spPr>
          <a:xfrm xmlns:a="http://schemas.openxmlformats.org/drawingml/2006/main">
            <a:off x="868680" y="2148840"/>
            <a:ext cx="1042416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defRPr sz="1800">
                <a:solidFill>
                  <a:srgbClr val="0E2A2F"/>
                </a:solidFill>
                <a:latin typeface="Calibri"/>
                <a:ea typeface="Calibri"/>
                <a:cs typeface="Calibri"/>
              </a:defRPr>
            </a:defPPr>
          </a:lstStyle>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First version:</a:t>
            </a:r>
            <a:r>
              <a:rPr sz="1800" b="0">
                <a:solidFill>
                  <a:srgbClr val="0E2A2F"/>
                </a:solidFill>
                <a:latin typeface="Calibri"/>
                <a:ea typeface="Calibri"/>
                <a:cs typeface="Calibri"/>
              </a:rPr>
              <a:t> </a:t>
            </a:r>
            <a:r>
              <a:rPr sz="1800" b="0">
                <a:solidFill>
                  <a:srgbClr val="0E2A2F"/>
                </a:solidFill>
                <a:latin typeface="Calibri"/>
                <a:ea typeface="Calibri"/>
                <a:cs typeface="Calibri"/>
              </a:rPr>
              <a:t>One clinic and one planned referral type. A clinic-approved checklist explains when and where to go, what to bring and any preparation instructions.</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How it works:</a:t>
            </a:r>
            <a:r>
              <a:rPr sz="1800" b="0">
                <a:solidFill>
                  <a:srgbClr val="0E2A2F"/>
                </a:solidFill>
                <a:latin typeface="Calibri"/>
                <a:ea typeface="Calibri"/>
                <a:cs typeface="Calibri"/>
              </a:rPr>
              <a:t> </a:t>
            </a:r>
            <a:r>
              <a:rPr sz="1800" b="0">
                <a:solidFill>
                  <a:srgbClr val="0E2A2F"/>
                </a:solidFill>
                <a:latin typeface="Calibri"/>
                <a:ea typeface="Calibri"/>
                <a:cs typeface="Calibri"/>
              </a:rPr>
              <a:t>Families flag missing steps or practical barriers. Staff assign an owner and due date, resolve what they can, and record whether the planned service was received.</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Build plan:</a:t>
            </a:r>
            <a:r>
              <a:rPr sz="1800" b="0">
                <a:solidFill>
                  <a:srgbClr val="0E2A2F"/>
                </a:solidFill>
                <a:latin typeface="Calibri"/>
                <a:ea typeface="Calibri"/>
                <a:cs typeface="Calibri"/>
              </a:rPr>
              <a:t> </a:t>
            </a:r>
            <a:r>
              <a:rPr sz="1800" b="0">
                <a:solidFill>
                  <a:srgbClr val="0E2A2F"/>
                </a:solidFill>
                <a:latin typeface="Calibri"/>
                <a:ea typeface="Calibri"/>
                <a:cs typeface="Calibri"/>
              </a:rPr>
              <a:t>Month 1: validate the workflow using fictional cases. Month 2: build and test. Month 3: supervised pilot if approved. Month 4: optional fixes and handover.</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Pilot requirements:</a:t>
            </a:r>
            <a:r>
              <a:rPr sz="1800" b="0">
                <a:solidFill>
                  <a:srgbClr val="0E2A2F"/>
                </a:solidFill>
                <a:latin typeface="Calibri"/>
                <a:ea typeface="Calibri"/>
                <a:cs typeface="Calibri"/>
              </a:rPr>
              <a:t> </a:t>
            </a:r>
            <a:r>
              <a:rPr sz="1800" b="0">
                <a:solidFill>
                  <a:srgbClr val="0E2A2F"/>
                </a:solidFill>
                <a:latin typeface="Calibri"/>
                <a:ea typeface="Calibri"/>
                <a:cs typeface="Calibri"/>
              </a:rPr>
              <a:t>A willing clinic, staff owner and approvals. Without them, deliver a fictional-case prototype. The 12–16-week plan depends on team capacity.</a:t>
            </a:r>
          </a:p>
          <a:p xmlns:a="http://schemas.openxmlformats.org/drawingml/2006/main">
            <a:pPr marL="279400" indent="-279400">
              <a:spcAft>
                <a:spcPts val="1000"/>
              </a:spcAft>
              <a:buChar char="•"/>
              <a:defRPr sz="1800">
                <a:solidFill>
                  <a:srgbClr val="0E2A2F"/>
                </a:solidFill>
                <a:latin typeface="Calibri"/>
                <a:ea typeface="Calibri"/>
                <a:cs typeface="Calibri"/>
              </a:defRPr>
            </a:pPr>
            <a:r>
              <a:rPr sz="1800" b="1">
                <a:solidFill>
                  <a:srgbClr val="0E2A2F"/>
                </a:solidFill>
                <a:latin typeface="Calibri"/>
                <a:ea typeface="Calibri"/>
                <a:cs typeface="Calibri"/>
              </a:rPr>
              <a:t>Potential impact:</a:t>
            </a:r>
            <a:r>
              <a:rPr sz="1800" b="0">
                <a:solidFill>
                  <a:srgbClr val="0E2A2F"/>
                </a:solidFill>
                <a:latin typeface="Calibri"/>
                <a:ea typeface="Calibri"/>
                <a:cs typeface="Calibri"/>
              </a:rPr>
              <a:t> </a:t>
            </a:r>
            <a:r>
              <a:rPr sz="1800" b="0">
                <a:solidFill>
                  <a:srgbClr val="0E2A2F"/>
                </a:solidFill>
                <a:latin typeface="Calibri"/>
                <a:ea typeface="Calibri"/>
                <a:cs typeface="Calibri"/>
              </a:rPr>
              <a:t>Measure on-time service completion across all enrolled referrals, plus failed trips, costs and staff time. Expand to more clinics only if results show benefit and staff can maintain the workflow.</a:t>
            </a:r>
          </a:p>
        </p:txBody>
      </p:sp>
      <p:sp>
        <p:nvSpPr>
          <p:cNvPr id="25" name="Slide Number Placeholder 0">
            <a:extLst xmlns:a="http://schemas.openxmlformats.org/drawingml/2006/main">
              <a:ext uri="{FF2B5EF4-FFF2-40B4-BE49-F238E27FC236}">
                <a16:creationId xmlns:a16="http://schemas.microsoft.com/office/drawing/2014/main" id="{F3FC35A6-DA1E-42C2-B6F9-D4CCCCF63CDD}"/>
              </a:ext>
            </a:extLst>
          </p:cNvPr>
          <p:cNvSpPr>
            <a:spLocks xmlns:a="http://schemas.openxmlformats.org/drawingml/2006/main" noGrp="1"/>
          </p:cNvSpPr>
          <p:nvPr>
            <p:ph type="sldNum" idx="4294967295"/>
          </p:nvPr>
        </p:nvSpPr>
        <p:spPr>
          <a:xfrm xmlns:a="http://schemas.openxmlformats.org/drawingml/2006/main">
            <a:off x="11259007" y="6409944"/>
            <a:ext cx="457200" cy="395935"/>
          </a:xfrm>
          <a:prstGeom xmlns:a="http://schemas.openxmlformats.org/drawingml/2006/main" prst="rect">
            <a:avLst/>
          </a:prstGeom>
        </p:spPr>
        <p:txBody>
          <a:bodyPr xmlns:a="http://schemas.openxmlformats.org/drawingml/2006/main" lIns="0" tIns="0" rIns="0" bIns="0" anchor="ctr"/>
          <a:lstStyle xmlns:a="http://schemas.openxmlformats.org/drawingml/2006/main">
            <a:lvl1pPr>
              <a:buNone/>
              <a:defRPr sz="1100">
                <a:solidFill>
                  <a:schemeClr val="tx2"/>
                </a:solidFill>
                <a:latin typeface="Calibri"/>
                <a:ea typeface="Calibri"/>
                <a:cs typeface="Calibri"/>
              </a:defRPr>
            </a:lvl1pPr>
          </a:lstStyle>
          <a:p xmlns:a="http://schemas.openxmlformats.org/drawingml/2006/main">
            <a:pPr algn="ctr">
              <a:buNone/>
            </a:pPr>
            <a:fld id="{F7021451-1387-4CA6-816F-3879F97B5CBC}" type="slidenum">
              <a:rPr b="1"/>
              <a:t>8</a:t>
            </a:fld>
            <a:endParaRPr/>
          </a:p>
        </p:txBody>
      </p:sp>
    </p:spTree>
    <p:extLst>
      <p:ext uri="{BB962C8B-B14F-4D97-AF65-F5344CB8AC3E}">
        <p14:creationId xmlns:p14="http://schemas.microsoft.com/office/powerpoint/2010/main" val="161293787"/>
      </p:ext>
    </p:extLst>
  </p:cSld>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enesis Ideathon">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2026-10-09T16:54:37.7630000Z</dcterms:created>
  <dcterms:modified xsi:type="dcterms:W3CDTF">2026-10-09T16:54:37.7630000Z</dcterms:modified>
</coreProperties>
</file>